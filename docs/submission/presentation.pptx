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день. Мы сделали платформу, которая за один сеанс проводит склад по пути ТЗ: параметры объекта, подбор роботов, экономика в рублях, сценарии «как есть, покупка, услуга», имитация и отчёт. Всё, что вы увидите, посчитано моделью tz-1.0.0 на выпуске данных 72eb7f93. Ту же сборку мы сдаём, поэтому числа на слайдах воспроизводятся в ней, а файл с ними печатает сама сборка.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Проблема: у Ronavi H1500 паспортная норма 90 паллет в час, и кажется, что трёх роботов хватит. Но норма получена на коротком плече, а на складе из датасета организатора плечо ≈94 м. Ошибка в парке превращается в ошибку в CAPEX, в окупаемости и в решении (цифры — на слайде 8: ДЧ·Ж-парк и ДЧ·Ж-риски). Наши пользователи:</a:t>
            </a:r>
          </a:p>
          <a:p>
            <a:r>
              <a:rPr lang="ru-RU" dirty="0"/>
              <a:t>– руководитель склада — ему нужно решение и бюджет;</a:t>
            </a:r>
          </a:p>
          <a:p>
            <a:r>
              <a:rPr lang="ru-RU" dirty="0"/>
              <a:t>– инженер внедрения — ему нужен состав оборудования и ограничения объекта;</a:t>
            </a:r>
          </a:p>
          <a:p>
            <a:r>
              <a:rPr lang="ru-RU" dirty="0"/>
              <a:t>– финансист — ему нужны CAPEX, OPEX, NPV и TCO;</a:t>
            </a:r>
          </a:p>
          <a:p>
            <a:r>
              <a:rPr lang="ru-RU" dirty="0"/>
              <a:t>– администратор каталога на стороне ФЦ БАС.</a:t>
            </a:r>
          </a:p>
          <a:p>
            <a:endParaRPr lang="ru-RU" dirty="0"/>
          </a:p>
          <a:p>
            <a:r>
              <a:rPr lang="ru-RU" dirty="0"/>
              <a:t>Путь повторяет ТЗ шаг в шаг, восемь шагов, и в сборке пронумерован так же: «Шаг N из 8». В демо-проекте четыре сценария: как есть, покупка и услуга Ronavi H1500 и покупка AMR 1500, которую предложил подбор.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Запуск для жюри — docker compose up --build. Поднимаются база, миграции с загрузкой данных организатора и демо-аккаунтов, затем приложение. Проверка здоровья отдаёт версии модели. Ядро расчёта — чистые функции на TypeScript, только рубли и без скрытых коэффициентов. Та же функция работает в браузере, поэтому пересчёт мгновенный и совпадает с сервером бит в бит.</a:t>
            </a:r>
          </a:p>
          <a:p>
            <a:endParaRPr lang="ru-RU" dirty="0"/>
          </a:p>
          <a:p>
            <a:r>
              <a:rPr lang="ru-RU" dirty="0"/>
              <a:t>Проект хранит входы и снимки использованных продуктов, нормативов и параметров. Повторное открытие восстанавливает расчёт из снимка. Если данные с тех пор изменились, появляется баннер «Пересчитать на актуальных данных». У расчёта нового проекта версия данных 7be2cba2, у выпуска данных — 72eb7f93. Файл с числами презентации печатает сама сборка одной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нас три источника данных организатора: датасеты объектов, каталог решений и «Примеры решений» с нормами производительности. Всё загружается в базу одной синхронизацией, её же запускает кнопка администратора «Обновить каталог».</a:t>
            </a:r>
          </a:p>
          <a:p>
            <a:endParaRPr lang="ru-RU" dirty="0"/>
          </a:p>
          <a:p>
            <a:r>
              <a:rPr lang="ru-RU" dirty="0"/>
              <a:t>Масштаб: в каталоге 188 продуктов, у 187 из них есть id каталога организатора. 130 продуктов описаны на уровне идентификации, как у организатора, и в расчёт не идут. 57 дополнены характеристиками из источников, ещё один взят из «Примеров решений». В подбор склада идут 35 продуктов. Всего 2 615 характеристик с источником, 170 из них подтверждены первоисточником.</a:t>
            </a:r>
          </a:p>
          <a:p>
            <a:endParaRPr lang="ru-RU" dirty="0"/>
          </a:p>
          <a:p>
            <a:r>
              <a:rPr lang="ru-RU" dirty="0"/>
              <a:t>Для карточек, которые идут в расчёт, мы собрали характеристики из открытых источников. Значения второго прохода перепроверены по страницам источников, спорные понижены в уверенности. Порядок доверия: организатор, затем PDF производителя, сайт, дилер, агрегатор, пресса. Значение «до X» мы не считаем типичным. В расчёт парка идёт только производительность на один робот. Если источники расходятся, карточка показывает альтернативы. Неподтверждённая цена или производительность дают флаг «Требует проверки» и риск в выводе.</a:t>
            </a:r>
          </a:p>
          <a:p>
            <a:endParaRPr lang="ru-RU" dirty="0"/>
          </a:p>
          <a:p>
            <a:r>
              <a:rPr lang="ru-RU" dirty="0"/>
              <a:t>Правки администратора синхронизация не затирает. Пропавшие у организатора продукты уходят в архив, а не удаляются: на них могут ссылаться проекты.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Жёсткие правила исключают решение и пишут причину с числами:</a:t>
            </a:r>
          </a:p>
          <a:p>
            <a:r>
              <a:rPr lang="ru-RU" dirty="0"/>
              <a:t>– статус НИОКР;</a:t>
            </a:r>
          </a:p>
          <a:p>
            <a:r>
              <a:rPr lang="ru-RU" dirty="0"/>
              <a:t>– модель не найдена у производителя;</a:t>
            </a:r>
          </a:p>
          <a:p>
            <a:r>
              <a:rPr lang="ru-RU" dirty="0"/>
              <a:t>– грузоподъёмность ниже массы груза;</a:t>
            </a:r>
          </a:p>
          <a:p>
            <a:r>
              <a:rPr lang="ru-RU" dirty="0"/>
              <a:t>– проход уже, чем нужно роботу;</a:t>
            </a:r>
          </a:p>
          <a:p>
            <a:r>
              <a:rPr lang="ru-RU" dirty="0"/>
              <a:t>– температурный режим;</a:t>
            </a:r>
          </a:p>
          <a:p>
            <a:r>
              <a:rPr lang="ru-RU" dirty="0"/>
              <a:t>– решение не предназначено для процесса.</a:t>
            </a:r>
          </a:p>
          <a:p>
            <a:endParaRPr lang="ru-RU" dirty="0"/>
          </a:p>
          <a:p>
            <a:r>
              <a:rPr lang="ru-RU" dirty="0"/>
              <a:t>Мягкие правила дают ограничения:</a:t>
            </a:r>
          </a:p>
          <a:p>
            <a:r>
              <a:rPr lang="ru-RU" dirty="0"/>
              <a:t>– малый запас грузоподъёмности;</a:t>
            </a:r>
          </a:p>
          <a:p>
            <a:r>
              <a:rPr lang="ru-RU" dirty="0"/>
              <a:t>– подъём только по горизонтали;</a:t>
            </a:r>
          </a:p>
          <a:p>
            <a:r>
              <a:rPr lang="ru-RU" dirty="0"/>
              <a:t>– пилотный статус;</a:t>
            </a:r>
          </a:p>
          <a:p>
            <a:r>
              <a:rPr lang="ru-RU" dirty="0"/>
              <a:t>– спорная цена.</a:t>
            </a:r>
          </a:p>
          <a:p>
            <a:endParaRPr lang="ru-RU" dirty="0"/>
          </a:p>
          <a:p>
            <a:r>
              <a:rPr lang="ru-RU" dirty="0"/>
              <a:t>Если нет ни производительности, ни скорости, статус — «Недостаточно данных», а не молчаливый ноль.</a:t>
            </a:r>
          </a:p>
          <a:p>
            <a:endParaRPr lang="ru-RU" dirty="0"/>
          </a:p>
          <a:p>
            <a:r>
              <a:rPr lang="ru-RU" dirty="0"/>
              <a:t>Балл складывается из пяти факторов: экономика, полнота и подтверждённость данных, зрелость, запас по грузоподъёмности и проходу, кейсы. Вклад каждого виден на полосе.</a:t>
            </a:r>
          </a:p>
          <a:p>
            <a:endParaRPr lang="ru-RU" dirty="0"/>
          </a:p>
          <a:p>
            <a:r>
              <a:rPr lang="ru-RU" dirty="0"/>
              <a:t>Исключённое решение можно добавить вручную, только с причиной. Оно получает значок ⚠ везде — в сравнении, в отчёте и в Excel — и запись в журнале.</a:t>
            </a:r>
          </a:p>
          <a:p>
            <a:endParaRPr lang="ru-RU" dirty="0"/>
          </a:p>
          <a:p>
            <a:r>
              <a:rPr lang="ru-RU" dirty="0"/>
              <a:t>Подбор ранжирует продукты. Вывод по сценариям выбирает сценарий по NPV среди жизнеспособных. Поэтому в подборе «Рекомендуется» Ronavi H1500 — он в эксплуатации, а не в пилоте, и данные о нём полнее, — а в выводе — покупка AMR 1500 с явными рисками. Это две разные задачи, и обе объяснены на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Формулы — ровно те, что в ТЗ, без собственных коэффициентов. Норматив, которого нет у организатора, помечен как оценка и имеет основание.</a:t>
            </a:r>
          </a:p>
          <a:p>
            <a:endParaRPr lang="ru-RU" dirty="0"/>
          </a:p>
          <a:p>
            <a:r>
              <a:rPr lang="ru-RU" dirty="0"/>
              <a:t>Проверим на примере. «Как есть» стоит 46 872 000 ₽ в год, покупка H1500 — 37 550 398 ₽. Эффект — разница, 9 321 602 ₽. CAPEX 38 500 000 ₽ делим на эффект и получаем 4,1 г. простой окупаемости. ROI по формуле ТЗ — 123 %, TCO за пять лет — 225 509 489 ₽.</a:t>
            </a:r>
          </a:p>
          <a:p>
            <a:endParaRPr lang="ru-RU" dirty="0"/>
          </a:p>
          <a:p>
            <a:r>
              <a:rPr lang="ru-RU" dirty="0"/>
              <a:t>Каждое из этих чисел в интерфейсе раскрывается в «Как посчитано»: формула, подстановка, единица, источник. Любое автоматическое значение можно переопределить с причиной, и правка попадёт в журнал (ТЗ §3.5.4).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сценарии — в одной таблице, как требует шаг 6 ТЗ. Рекомендуется покупка AMR 1500: NPV 3 983 162 ₽ за пять лет и лучший TCO — 216 434 489 ₽ против 234 360 000 ₽ у текущего процесса. Мы не прячем, что цена AMR 1500 — 2 200 000 ₽ — не подтверждена производителем, а сам продукт в пилотной эксплуатации. Это первые два риска в выводе.</a:t>
            </a:r>
          </a:p>
          <a:p>
            <a:endParaRPr lang="ru-RU" dirty="0"/>
          </a:p>
          <a:p>
            <a:r>
              <a:rPr lang="ru-RU" dirty="0"/>
              <a:t>Обратите внимание на три ловушки, которые таблица снимает:</a:t>
            </a:r>
          </a:p>
          <a:p>
            <a:r>
              <a:rPr lang="ru-RU" dirty="0"/>
              <a:t>1. Услуга Ronavi H1500 окупается быстрее всех: 1,5 г. — быстрая окупаемость (менее 3 лет). Её ROI 342,6 %, но при CAPEX 1 540 000 ₽ ROI неинформативен, и платформа прямо это пишет. Сравнивать нужно NPV и TCO: у услуги NPV 2 263 407 ₽, меньше, чем у AMR 1500.</a:t>
            </a:r>
          </a:p>
          <a:p>
            <a:r>
              <a:rPr lang="ru-RU" dirty="0"/>
              <a:t>2. У покупки H1500 простая окупаемость 4,1 г., но за 5 лет NPV отрицательный, -4 108 652 ₽, и дисконтированная окупаемость за горизонтом. Простая окупаемость не учитывает стоимость денег.</a:t>
            </a:r>
          </a:p>
          <a:p>
            <a:r>
              <a:rPr lang="ru-RU" dirty="0"/>
              <a:t>3. Строка «Имитация» показывает, подтверждён ли парк. Об этом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Организатор даёт для Ronavi H1500 норму 90 паллет в час. По ней хватило бы трёх роботов. Но норма верна для короткого плеча. На этом объекте плечо с грузом 93,82 м, порожнее 103,6 м — это оценка по планировке из площади и проходов датасета. Цикл робота при таком плече — 19,2257 паллет в час, в 4,7 раза меньше нормы.</a:t>
            </a:r>
          </a:p>
          <a:p>
            <a:endParaRPr lang="ru-RU" dirty="0"/>
          </a:p>
          <a:p>
            <a:r>
              <a:rPr lang="ru-RU" dirty="0"/>
              <a:t>Модель берёт меньшее из двух значений: Nточн 10,2159, после округления вверх — 11 роботов. Имитация на той же геометрии — арбитр. 11 роботов держат пик 132,5 из 129,5 паллет в час, три робота по норме не держат. Перебор имитацией находит минимальный устойчивый парк — 9. Разница с 11 — это запас, который закладывают нормативы организатора: загрузка и резерв на пик. Принять меньший парк можно одной кнопкой, и решение попадёт в журнал.</a:t>
            </a:r>
          </a:p>
          <a:p>
            <a:endParaRPr lang="ru-RU" dirty="0"/>
          </a:p>
          <a:p>
            <a:r>
              <a:rPr lang="ru-RU" dirty="0"/>
              <a:t>Тот же эффект у DMR Carrier P из примеров организатора — это дополнительный пример, в путь жюри он не входит: норма 50, цикл 15,1739, парк 13 против 4 по норме. Имитация детерминирована: тот же seed даёт тот же результат в браузере и на сервере.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Чувствительность считается для каждого сценария и по каждому рычагу полным пересчётом модели. Границы диапазонов берутся у организатора, если он их дал: зарплата 80 000–170 000 ₽ в месяц, пиковый коэффициент 1,2–2,5, горизонт 3–10 лет. Иначе берётся наш норматив или ±20 %, и граница подписана.</a:t>
            </a:r>
          </a:p>
          <a:p>
            <a:endParaRPr lang="ru-RU" dirty="0"/>
          </a:p>
          <a:p>
            <a:r>
              <a:rPr lang="ru-RU" dirty="0"/>
              <a:t>На торнадо — рекомендуемая покупка AMR 1500. Сильнейший рычаг — доля автоматизируемого труда: NPV от -28,1 млн ₽ до 36,1 млн ₽. Долю труда мы оценили сами, поэтому её в первую очередь нужно проверить обследованием на объекте. Обратите внимание на последний столбец: NPV меняет знак в диапазоне каждого рычага. Базовый NPV, 3 983 162 ₽, невелик по сравнению с размахом, поэтому рекомендация идёт вместе с рисками, а не как вердикт.</a:t>
            </a:r>
          </a:p>
          <a:p>
            <a:endParaRPr lang="ru-RU" dirty="0"/>
          </a:p>
          <a:p>
            <a:r>
              <a:rPr lang="ru-RU" dirty="0"/>
              <a:t>Ещё два ответа модели:</a:t>
            </a:r>
          </a:p>
          <a:p>
            <a:r>
              <a:rPr lang="ru-RU" dirty="0"/>
              <a:t>– на горизонте до четырёх лет выгоднее услуга;</a:t>
            </a:r>
          </a:p>
          <a:p>
            <a:r>
              <a:rPr lang="ru-RU" dirty="0"/>
              <a:t>– покупка AMR 1500 окупается, если зарплата оператора не ниже 110 939 ₽ в месяц; в расчёте 120 000 ₽. У покупки H1500 порог выше — 129 347 ₽ в месяц.</a:t>
            </a:r>
          </a:p>
          <a:p>
            <a:endParaRPr lang="ru-RU" dirty="0"/>
          </a:p>
          <a:p>
            <a:r>
              <a:rPr lang="ru-RU" dirty="0"/>
              <a:t>Это не жёсткий порог, а карта того, от чего зависит решение (ТЗ §3.5.6–§3.5.7).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Отчёт по ТЗ §3.7.2 содержит:</a:t>
            </a:r>
          </a:p>
          <a:p>
            <a:r>
              <a:rPr lang="ru-RU" dirty="0"/>
              <a:t>– параметры объекта;</a:t>
            </a:r>
          </a:p>
          <a:p>
            <a:r>
              <a:rPr lang="ru-RU" dirty="0"/>
              <a:t>– выбранные решения;</a:t>
            </a:r>
          </a:p>
          <a:p>
            <a:r>
              <a:rPr lang="ru-RU" dirty="0"/>
              <a:t>– состав оборудования;</a:t>
            </a:r>
          </a:p>
          <a:p>
            <a:r>
              <a:rPr lang="ru-RU" dirty="0"/>
              <a:t>– экономику;</a:t>
            </a:r>
          </a:p>
          <a:p>
            <a:r>
              <a:rPr lang="ru-RU" dirty="0"/>
              <a:t>– ограничения;</a:t>
            </a:r>
          </a:p>
          <a:p>
            <a:r>
              <a:rPr lang="ru-RU" dirty="0"/>
              <a:t>– источники;</a:t>
            </a:r>
          </a:p>
          <a:p>
            <a:r>
              <a:rPr lang="ru-RU" dirty="0"/>
              <a:t>– дату расчёта;</a:t>
            </a:r>
          </a:p>
          <a:p>
            <a:r>
              <a:rPr lang="ru-RU" dirty="0"/>
              <a:t>– оговорку «предварительная оценка, требует верификации при обследовании объекта».</a:t>
            </a:r>
          </a:p>
          <a:p>
            <a:endParaRPr lang="ru-RU" dirty="0"/>
          </a:p>
          <a:p>
            <a:r>
              <a:rPr lang="ru-RU" dirty="0"/>
              <a:t>PDF получается печатью браузера. В Excel формулы живые, поэтому финансист может проверить NPV сам. CSV — с BOM и разделителем «;», поэтому открывается в русском Excel без настройки. PNG имитации хранит сцену, KPI, сценарий, seed, дату и оговорку.</a:t>
            </a:r>
          </a:p>
          <a:p>
            <a:endParaRPr lang="ru-RU" dirty="0"/>
          </a:p>
          <a:p>
            <a:r>
              <a:rPr lang="ru-RU" dirty="0"/>
              <a:t>API v1:</a:t>
            </a:r>
          </a:p>
          <a:p>
            <a:r>
              <a:rPr lang="ru-RU" dirty="0"/>
              <a:t>– чтение каталога, нормативов и параметров объекта;</a:t>
            </a:r>
          </a:p>
          <a:p>
            <a:r>
              <a:rPr lang="ru-RU" dirty="0"/>
              <a:t>– расчёт тем же движком: POST /api/v1/calculate с телом {"facility":"warehouse"} возвращает те же сценарии и числа, что новый проект (ДЧ·Ж); API отдаёт суммы без округления, поэтому сравнивать нужно после округления до рубля;</a:t>
            </a:r>
          </a:p>
          <a:p>
            <a:r>
              <a:rPr lang="ru-RU" dirty="0"/>
              <a:t>– импорт объекта в проект;</a:t>
            </a:r>
          </a:p>
          <a:p>
            <a:r>
              <a:rPr lang="ru-RU" dirty="0"/>
              <a:t>– для администратора — импорт каталога и правка нормативов.</a:t>
            </a:r>
          </a:p>
          <a:p>
            <a:endParaRPr lang="ru-RU" dirty="0"/>
          </a:p>
          <a:p>
            <a:r>
              <a:rPr lang="ru-RU" dirty="0"/>
              <a:t>Описание — /api/v1/openapi.json, документация — /api-docs. Подключение WMS, ERP, 1С и мониторинга описано в docs/INTEGRATIONS.md.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Безопасность и данные:</a:t>
            </a:r>
          </a:p>
          <a:p>
            <a:r>
              <a:rPr lang="ru-RU" dirty="0"/>
              <a:t>– Роли по ТЗ §3.1.1. Гость видит каталог и демо-расчёт без сохранения. Пользователь работает со своими проектами. Администратор управляет каталогом, нормативами и параметрами.</a:t>
            </a:r>
          </a:p>
          <a:p>
            <a:r>
              <a:rPr lang="ru-RU" dirty="0"/>
              <a:t>– Изоляция. Каждый запрос фильтрует данные по владельцу, поэтому чужой проект отвечает «не найдено».</a:t>
            </a:r>
          </a:p>
          <a:p>
            <a:r>
              <a:rPr lang="ru-RU" dirty="0"/>
              <a:t>– Пароли хранятся только хешами. На вход действуют лимиты попыток.</a:t>
            </a:r>
          </a:p>
          <a:p>
            <a:r>
              <a:rPr lang="ru-RU" dirty="0"/>
              <a:t>– Удаление проекта удаляет его сценарии и журнал. Загруженные файлы мы не храним вовсе: файл разбирается и отбрасывается.</a:t>
            </a:r>
          </a:p>
          <a:p>
            <a:endParaRPr lang="ru-RU" dirty="0"/>
          </a:p>
          <a:p>
            <a:r>
              <a:rPr lang="ru-RU" dirty="0"/>
              <a:t>Производительность и удобство:</a:t>
            </a:r>
          </a:p>
          <a:p>
            <a:r>
              <a:rPr lang="ru-RU" dirty="0"/>
              <a:t>– Время расчёта и статус имитации всегда видны в строке состояния. Замеры на финальной сборке — в чек-листе релиза.</a:t>
            </a:r>
          </a:p>
          <a:p>
            <a:r>
              <a:rPr lang="ru-RU" dirty="0"/>
              <a:t>– У каждого поля есть единица, пример, диапазон и источник значения.</a:t>
            </a:r>
          </a:p>
          <a:p>
            <a:r>
              <a:rPr lang="ru-RU" dirty="0"/>
              <a:t>– Ошибки говорят, как их исправить.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Полностью работает то, что требует демонстрация §5.4, на складе. Аэропорт и медучреждение показаны так, как разрешает §5.5: выбор объекта, параметры и доступные решения, с явной пометкой «Прототип». Что сделано частично, названо на слайде и в документации. Ни одна из этих функций не выдаётся за готовую.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Оптимизация здесь не ради слова «ML». Задача конкретная: формула парка не видит очередей и зарядки, а имитация видит. Поэтому минимальный устойчивый парк ищется перебором имитацией, и для H1500 он равен девяти против одиннадцати по формуле. Решение принять меньший парк остаётся за человеком и фиксируется в журнале.</a:t>
            </a:r>
          </a:p>
          <a:p>
            <a:endParaRPr lang="ru-RU" dirty="0"/>
          </a:p>
          <a:p>
            <a:r>
              <a:rPr lang="ru-RU" dirty="0"/>
              <a:t>Остальные бонусы — API с OpenAPI, обновление каталога по кнопке, расширенная чувствительность и провенанс каждого числа — вы видели в демонстрации. Честная оговорка: детальная модель есть только у склада.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уже говорит, что проверять в первую очередь. Во-первых, долю труда, которую реально снимают роботы: от неё NPV покупки AMR 1500 гуляет от -28,1 до 36,1 млн ₽. Во-вторых, цену и производительность AMR 1500 по коммерческому предложению.</a:t>
            </a:r>
          </a:p>
          <a:p>
            <a:endParaRPr lang="ru-RU" dirty="0"/>
          </a:p>
          <a:p>
            <a:r>
              <a:rPr lang="ru-RU" dirty="0"/>
              <a:t>Дальше в плане остаточная стоимость в TCO, детальные модели аэропорта и медучреждения, плановое обновление каталога и живые интеграции. Просьба к ФЦ БАС — данные одного пилотного склада, чтобы откалибровать эти допущения.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fas\AppData\Local\Temp\claude\C--Users-alfas-hackaton\4902f530-8ce2-43a7-ba9b-22b197422138\scratchpad\gen\deck\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4D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spc="200" kern="0" dirty="0">
                <a:solidFill>
                  <a:srgbClr val="F5B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ФЦ БАС · КЕЙС «СКЛАД»</a:t>
            </a:r>
            <a:endParaRPr lang="ru-RU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</a:t>
            </a:r>
            <a:endParaRPr lang="ru-RU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718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параметров склада к решению о роботизации: подбор решений, экономика в рублях, сценарии «как есть, покупка, услуга» и имитация, которая проверяет расчёт.</a:t>
            </a:r>
            <a:endParaRPr lang="ru-RU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4892040"/>
            <a:ext cx="1668780" cy="384048"/>
          </a:xfrm>
          <a:prstGeom prst="roundRect">
            <a:avLst>
              <a:gd name="adj" fmla="val 50000"/>
            </a:avLst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892040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tz-1.0.0</a:t>
            </a:r>
            <a:endParaRPr lang="ru-RU" sz="1300" dirty="0"/>
          </a:p>
        </p:txBody>
      </p:sp>
      <p:sp>
        <p:nvSpPr>
          <p:cNvPr id="9" name="Shape 6"/>
          <p:cNvSpPr/>
          <p:nvPr/>
        </p:nvSpPr>
        <p:spPr>
          <a:xfrm>
            <a:off x="2564892" y="4892040"/>
            <a:ext cx="1929384" cy="384048"/>
          </a:xfrm>
          <a:prstGeom prst="roundRect">
            <a:avLst>
              <a:gd name="adj" fmla="val 50000"/>
            </a:avLst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4892" y="489204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 sim-1.0.0</a:t>
            </a:r>
            <a:endParaRPr lang="ru-RU" sz="1300" dirty="0"/>
          </a:p>
        </p:txBody>
      </p:sp>
      <p:sp>
        <p:nvSpPr>
          <p:cNvPr id="11" name="Shape 8"/>
          <p:cNvSpPr/>
          <p:nvPr/>
        </p:nvSpPr>
        <p:spPr>
          <a:xfrm>
            <a:off x="4658868" y="4892040"/>
            <a:ext cx="2276856" cy="384048"/>
          </a:xfrm>
          <a:prstGeom prst="roundRect">
            <a:avLst>
              <a:gd name="adj" fmla="val 50000"/>
            </a:avLst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58868" y="4892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 данных 72eb7f93</a:t>
            </a:r>
            <a:endParaRPr lang="ru-RU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является предварительной оценкой и требует верификации при обследовании объекта.</a:t>
            </a:r>
            <a:endParaRPr lang="ru-RU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01875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973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путь ТЗ §2.2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робота не знает вашего склада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Роботизацию склада часто оценивают по паспортным цифрам производителя, а они верны для идеальных условий. Платформа проходит весь путь ТЗ на данных объекта и показывает, где паспорт расходится с планировкой.</a:t>
            </a:r>
            <a:endParaRPr lang="ru-RU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2029968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1956816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221992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Склад, аэропорт или медучреждение; демо-данные организатора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356534" y="1883664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484550" y="2029968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8455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33190" y="1956816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endParaRPr lang="ru-RU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33190" y="2221992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или Excel/CSV с проверкой полноты, формата и диапазонов</a:t>
            </a:r>
            <a:endParaRPr lang="ru-RU" sz="1050" dirty="0"/>
          </a:p>
        </p:txBody>
      </p:sp>
      <p:sp>
        <p:nvSpPr>
          <p:cNvPr id="18" name="Shape 16"/>
          <p:cNvSpPr/>
          <p:nvPr/>
        </p:nvSpPr>
        <p:spPr>
          <a:xfrm>
            <a:off x="6164428" y="1883664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92444" y="2029968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244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41084" y="1956816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ru-RU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41084" y="2221992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Применимые решения с причинами включения и исключения</a:t>
            </a:r>
            <a:endParaRPr lang="ru-RU" sz="1050" dirty="0"/>
          </a:p>
        </p:txBody>
      </p:sp>
      <p:sp>
        <p:nvSpPr>
          <p:cNvPr id="23" name="Shape 21"/>
          <p:cNvSpPr/>
          <p:nvPr/>
        </p:nvSpPr>
        <p:spPr>
          <a:xfrm>
            <a:off x="8972321" y="1883664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00337" y="2029968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00337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48977" y="1956816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ru-RU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48977" y="2221992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Единые технические, эксплуатационные и экономические характеристики</a:t>
            </a:r>
            <a:endParaRPr lang="ru-RU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035808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" y="3182112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6656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25296" y="3108960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ru-RU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25296" y="3374136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оборудования, CAPEX, OPEX, TCO, эффект, окупаемость, ROI и формулы</a:t>
            </a:r>
            <a:endParaRPr lang="ru-RU" sz="1050" dirty="0"/>
          </a:p>
        </p:txBody>
      </p:sp>
      <p:sp>
        <p:nvSpPr>
          <p:cNvPr id="33" name="Shape 31"/>
          <p:cNvSpPr/>
          <p:nvPr/>
        </p:nvSpPr>
        <p:spPr>
          <a:xfrm>
            <a:off x="3356534" y="3035808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34" name="Shape 32"/>
          <p:cNvSpPr/>
          <p:nvPr/>
        </p:nvSpPr>
        <p:spPr>
          <a:xfrm>
            <a:off x="3484550" y="3182112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8455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033190" y="3108960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</a:t>
            </a:r>
            <a:endParaRPr lang="ru-RU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033190" y="3374136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есть, покупка и услуга в одной таблице</a:t>
            </a:r>
            <a:endParaRPr lang="ru-RU" sz="1050" dirty="0"/>
          </a:p>
        </p:txBody>
      </p:sp>
      <p:sp>
        <p:nvSpPr>
          <p:cNvPr id="38" name="Shape 36"/>
          <p:cNvSpPr/>
          <p:nvPr/>
        </p:nvSpPr>
        <p:spPr>
          <a:xfrm>
            <a:off x="6164428" y="3035808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292444" y="3182112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92444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ru-RU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41084" y="3108960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</a:t>
            </a:r>
            <a:endParaRPr lang="ru-RU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41084" y="3374136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2D-схема и KPI, которые подтверждают расчёт</a:t>
            </a:r>
            <a:endParaRPr lang="ru-RU" sz="1050" dirty="0"/>
          </a:p>
        </p:txBody>
      </p:sp>
      <p:sp>
        <p:nvSpPr>
          <p:cNvPr id="43" name="Shape 41"/>
          <p:cNvSpPr/>
          <p:nvPr/>
        </p:nvSpPr>
        <p:spPr>
          <a:xfrm>
            <a:off x="8972321" y="3035808"/>
            <a:ext cx="2670734" cy="1042416"/>
          </a:xfrm>
          <a:prstGeom prst="roundRect">
            <a:avLst>
              <a:gd name="adj" fmla="val 7018"/>
            </a:avLst>
          </a:prstGeom>
          <a:solidFill>
            <a:srgbClr val="F4F6FA"/>
          </a:solidFill>
          <a:ln/>
        </p:spPr>
      </p:sp>
      <p:sp>
        <p:nvSpPr>
          <p:cNvPr id="44" name="Shape 42"/>
          <p:cNvSpPr/>
          <p:nvPr/>
        </p:nvSpPr>
        <p:spPr>
          <a:xfrm>
            <a:off x="9100337" y="3182112"/>
            <a:ext cx="420624" cy="42062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00337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ru-RU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648977" y="3108960"/>
            <a:ext cx="188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</a:t>
            </a:r>
            <a:endParaRPr lang="ru-RU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648977" y="3374136"/>
            <a:ext cx="1902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проекта, PDF и Excel</a:t>
            </a:r>
            <a:endParaRPr lang="ru-RU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это нужно и что он получает</a:t>
            </a:r>
            <a:endParaRPr lang="ru-RU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498848"/>
            <a:ext cx="2109155" cy="1152144"/>
          </a:xfrm>
          <a:prstGeom prst="roundRect">
            <a:avLst>
              <a:gd name="adj" fmla="val 6349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" y="4608576"/>
            <a:ext cx="420624" cy="420624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51" name="Image 0" descr="C:\Users\alfas\AppData\Local\Temp\claude\C--Users-alfas-hackaton\4902f530-8ce2-43a7-ba9b-22b197422138\scratchpad\gen\deck\ic-warehouse-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606" y="4709526"/>
            <a:ext cx="218724" cy="218724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188720" y="4590288"/>
            <a:ext cx="137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склада или логистики</a:t>
            </a:r>
            <a:endParaRPr lang="ru-RU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94944" y="5120640"/>
            <a:ext cx="18348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бюджет</a:t>
            </a:r>
            <a:endParaRPr lang="ru-RU" sz="1050" dirty="0"/>
          </a:p>
        </p:txBody>
      </p:sp>
      <p:sp>
        <p:nvSpPr>
          <p:cNvPr id="54" name="Shape 51"/>
          <p:cNvSpPr/>
          <p:nvPr/>
        </p:nvSpPr>
        <p:spPr>
          <a:xfrm>
            <a:off x="2794955" y="4498848"/>
            <a:ext cx="2109155" cy="1152144"/>
          </a:xfrm>
          <a:prstGeom prst="roundRect">
            <a:avLst>
              <a:gd name="adj" fmla="val 6349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922971" y="4608576"/>
            <a:ext cx="420624" cy="420624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56" name="Image 1" descr="C:\Users\alfas\AppData\Local\Temp\claude\C--Users-alfas-hackaton\4902f530-8ce2-43a7-ba9b-22b197422138\scratchpad\gen\deck\ic-wrench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921" y="4709526"/>
            <a:ext cx="218724" cy="218724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3435035" y="4590288"/>
            <a:ext cx="137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внедрения или интегратор</a:t>
            </a:r>
            <a:endParaRPr lang="ru-RU" sz="1100" dirty="0"/>
          </a:p>
        </p:txBody>
      </p:sp>
      <p:sp>
        <p:nvSpPr>
          <p:cNvPr id="58" name="Text 54"/>
          <p:cNvSpPr txBox="1"/>
          <p:nvPr/>
        </p:nvSpPr>
        <p:spPr>
          <a:xfrm>
            <a:off x="2941259" y="5120640"/>
            <a:ext cx="18348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оборудования и ограничения объекта</a:t>
            </a:r>
            <a:endParaRPr lang="ru-RU" sz="1050" dirty="0"/>
          </a:p>
        </p:txBody>
      </p:sp>
      <p:sp>
        <p:nvSpPr>
          <p:cNvPr id="59" name="Shape 55"/>
          <p:cNvSpPr/>
          <p:nvPr/>
        </p:nvSpPr>
        <p:spPr>
          <a:xfrm>
            <a:off x="5041270" y="4498848"/>
            <a:ext cx="2109155" cy="1152144"/>
          </a:xfrm>
          <a:prstGeom prst="roundRect">
            <a:avLst>
              <a:gd name="adj" fmla="val 6349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169286" y="4608576"/>
            <a:ext cx="420624" cy="420624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61" name="Image 2" descr="C:\Users\alfas\AppData\Local\Temp\claude\C--Users-alfas-hackaton\4902f530-8ce2-43a7-ba9b-22b197422138\scratchpad\gen\deck\ic-calculator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236" y="4709526"/>
            <a:ext cx="218724" cy="218724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5681350" y="4590288"/>
            <a:ext cx="137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Финансист</a:t>
            </a:r>
            <a:endParaRPr lang="ru-RU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5187574" y="5120640"/>
            <a:ext cx="18348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CAPEX, OPEX, NPV и TCO</a:t>
            </a:r>
            <a:endParaRPr lang="ru-RU" sz="1050" dirty="0"/>
          </a:p>
        </p:txBody>
      </p:sp>
      <p:sp>
        <p:nvSpPr>
          <p:cNvPr id="64" name="Shape 59"/>
          <p:cNvSpPr/>
          <p:nvPr/>
        </p:nvSpPr>
        <p:spPr>
          <a:xfrm>
            <a:off x="7287585" y="4498848"/>
            <a:ext cx="2109155" cy="1152144"/>
          </a:xfrm>
          <a:prstGeom prst="roundRect">
            <a:avLst>
              <a:gd name="adj" fmla="val 6349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7415601" y="4608576"/>
            <a:ext cx="420624" cy="420624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66" name="Image 3" descr="C:\Users\alfas\AppData\Local\Temp\claude\C--Users-alfas-hackaton\4902f530-8ce2-43a7-ba9b-22b197422138\scratchpad\gen\deck\ic-database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551" y="4709526"/>
            <a:ext cx="218724" cy="218724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7927665" y="4590288"/>
            <a:ext cx="137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 ФЦ БАС</a:t>
            </a:r>
            <a:endParaRPr lang="ru-RU" sz="1100" dirty="0"/>
          </a:p>
        </p:txBody>
      </p:sp>
      <p:sp>
        <p:nvSpPr>
          <p:cNvPr id="68" name="Text 62"/>
          <p:cNvSpPr txBox="1"/>
          <p:nvPr/>
        </p:nvSpPr>
        <p:spPr>
          <a:xfrm>
            <a:off x="7433889" y="5120640"/>
            <a:ext cx="18348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каталог и нормативы</a:t>
            </a:r>
            <a:endParaRPr lang="ru-RU" sz="1050" dirty="0"/>
          </a:p>
        </p:txBody>
      </p:sp>
      <p:sp>
        <p:nvSpPr>
          <p:cNvPr id="69" name="Shape 63"/>
          <p:cNvSpPr/>
          <p:nvPr/>
        </p:nvSpPr>
        <p:spPr>
          <a:xfrm>
            <a:off x="9533900" y="4498848"/>
            <a:ext cx="2109155" cy="1152144"/>
          </a:xfrm>
          <a:prstGeom prst="roundRect">
            <a:avLst>
              <a:gd name="adj" fmla="val 6349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9661916" y="4608576"/>
            <a:ext cx="420624" cy="420624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71" name="Image 4" descr="C:\Users\alfas\AppData\Local\Temp\claude\C--Users-alfas-hackaton\4902f530-8ce2-43a7-ba9b-22b197422138\scratchpad\gen\deck\ic-user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2866" y="4709526"/>
            <a:ext cx="218724" cy="218724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10173980" y="4590288"/>
            <a:ext cx="137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</a:t>
            </a:r>
            <a:endParaRPr lang="ru-RU" sz="1100" dirty="0"/>
          </a:p>
        </p:txBody>
      </p:sp>
      <p:sp>
        <p:nvSpPr>
          <p:cNvPr id="73" name="Text 66"/>
          <p:cNvSpPr txBox="1"/>
          <p:nvPr/>
        </p:nvSpPr>
        <p:spPr>
          <a:xfrm>
            <a:off x="9680204" y="5120640"/>
            <a:ext cx="18348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демо-расчёт без входа</a:t>
            </a:r>
            <a:endParaRPr lang="ru-RU" sz="1050" dirty="0"/>
          </a:p>
        </p:txBody>
      </p:sp>
      <p:sp>
        <p:nvSpPr>
          <p:cNvPr id="74" name="Text 67"/>
          <p:cNvSpPr txBox="1"/>
          <p:nvPr/>
        </p:nvSpPr>
        <p:spPr>
          <a:xfrm>
            <a:off x="548640" y="57972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демо-проекте 4 сценария: </a:t>
            </a:r>
            <a:pPr algn="l" indent="0" marL="0">
              <a:buNone/>
            </a:pPr>
            <a:r>
              <a:rPr lang="ru-RU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есть», «Покупка — Ronavi H1500», «Услуга (RaaS) — Ronavi H1500», «Покупка — AMR 1500». </a:t>
            </a:r>
            <a:pPr algn="l" indent="0" marL="0">
              <a:buNone/>
            </a:pPr>
            <a:r>
              <a:rPr lang="ru-RU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ТЗ §3.5.5 требует не меньше трёх: текущий процесс и два варианта роботизации.</a:t>
            </a:r>
            <a:endParaRPr lang="ru-RU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12264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запуск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 поднимает всё, расчёт воспроизводится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поднимает базу, миграции с загрузкой данных и приложение. Каждый расчёт помечен версиями модели и данных, поэтому число со слайда воспроизводится в сданной сборке (ТЗ §5.6).</a:t>
            </a:r>
            <a:endParaRPr lang="ru-RU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14884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C:\Users\alfas\AppData\Local\Temp\claude\C--Users-alfas-hackaton\4902f530-8ce2-43a7-ba9b-22b197422138\scratchpad\gen\deck\ic-window-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50" y="2267346"/>
            <a:ext cx="256764" cy="2567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35024" y="20848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ru-RU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35024" y="23774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область проекта. Модель и имитация считаются той же функцией, что на сервере</a:t>
            </a:r>
            <a:endParaRPr lang="ru-RU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08152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C:\Users\alfas\AppData\Local\Temp\claude\C--Users-alfas-hackaton\4902f530-8ce2-43a7-ba9b-22b197422138\scratchpad\gen\deck\ic-cod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50" y="3200034"/>
            <a:ext cx="256764" cy="2567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35024" y="3017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ru-RU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335024" y="33101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серверные действия, API v1 с описанием OpenAPI</a:t>
            </a:r>
            <a:endParaRPr lang="ru-RU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858768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E8EEF9"/>
          </a:solidFill>
          <a:ln w="9525">
            <a:solidFill>
              <a:srgbClr val="C9D6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" y="401421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C:\Users\alfas\AppData\Local\Temp\claude\C--Users-alfas-hackaton\4902f530-8ce2-43a7-ba9b-22b197422138\scratchpad\gen\deck\ic-calculator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0" y="4132722"/>
            <a:ext cx="256764" cy="2567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35024" y="3950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расчёта</a:t>
            </a:r>
            <a:endParaRPr lang="ru-RU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335024" y="42428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lib/tz — экономика в рублях с трассировкой формул и подбор; lib/sim — детерминированная имитация</a:t>
            </a:r>
            <a:endParaRPr lang="ru-RU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791456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694944" y="49469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C:\Users\alfas\AppData\Local\Temp\claude\C--Users-alfas-hackaton\4902f530-8ce2-43a7-ba9b-22b197422138\scratchpad\gen\deck\ic-database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50" y="5065410"/>
            <a:ext cx="256764" cy="2567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35024" y="48828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через Prisma 7</a:t>
            </a:r>
            <a:endParaRPr lang="ru-RU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335024" y="517550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 провенансом, параметры и нормативы, проекты и сценарии, журнал корректировок, выпуски данных</a:t>
            </a:r>
            <a:endParaRPr lang="ru-RU" sz="1100" dirty="0"/>
          </a:p>
        </p:txBody>
      </p:sp>
      <p:sp>
        <p:nvSpPr>
          <p:cNvPr id="28" name="Shape 22"/>
          <p:cNvSpPr/>
          <p:nvPr/>
        </p:nvSpPr>
        <p:spPr>
          <a:xfrm>
            <a:off x="7360920" y="1993392"/>
            <a:ext cx="4282135" cy="3602736"/>
          </a:xfrm>
          <a:prstGeom prst="roundRect">
            <a:avLst>
              <a:gd name="adj" fmla="val 2030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210312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для жюри</a:t>
            </a:r>
            <a:endParaRPr lang="ru-RU" sz="1300" dirty="0"/>
          </a:p>
        </p:txBody>
      </p:sp>
      <p:sp>
        <p:nvSpPr>
          <p:cNvPr id="30" name="Shape 24"/>
          <p:cNvSpPr/>
          <p:nvPr/>
        </p:nvSpPr>
        <p:spPr>
          <a:xfrm>
            <a:off x="7562088" y="2450592"/>
            <a:ext cx="3879799" cy="384048"/>
          </a:xfrm>
          <a:prstGeom prst="roundRect">
            <a:avLst>
              <a:gd name="adj" fmla="val 14286"/>
            </a:avLst>
          </a:prstGeom>
          <a:solidFill>
            <a:srgbClr val="0F1F4D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690104" y="245059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</a:t>
            </a:r>
            <a:endParaRPr lang="ru-RU" sz="1300" dirty="0"/>
          </a:p>
        </p:txBody>
      </p:sp>
      <p:sp>
        <p:nvSpPr>
          <p:cNvPr id="32" name="Shape 26"/>
          <p:cNvSpPr/>
          <p:nvPr/>
        </p:nvSpPr>
        <p:spPr>
          <a:xfrm>
            <a:off x="7562088" y="30175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A42A8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562088" y="30175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ru-RU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8659368" y="2999232"/>
            <a:ext cx="2819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ru-RU" sz="1050" dirty="0"/>
          </a:p>
        </p:txBody>
      </p:sp>
      <p:sp>
        <p:nvSpPr>
          <p:cNvPr id="35" name="Shape 29"/>
          <p:cNvSpPr/>
          <p:nvPr/>
        </p:nvSpPr>
        <p:spPr>
          <a:xfrm>
            <a:off x="8042148" y="3383280"/>
            <a:ext cx="0" cy="274320"/>
          </a:xfrm>
          <a:prstGeom prst="line">
            <a:avLst/>
          </a:prstGeom>
          <a:noFill/>
          <a:ln w="15875">
            <a:solidFill>
              <a:srgbClr val="1A42A8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7562088" y="36576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A42A8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562088" y="36576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</a:t>
            </a:r>
            <a:endParaRPr lang="ru-RU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8659368" y="3639312"/>
            <a:ext cx="2819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migrate deploy и загрузка данных: каталог, нормативы, демо-аккаунты, демо-проект</a:t>
            </a:r>
            <a:endParaRPr lang="ru-RU" sz="1050" dirty="0"/>
          </a:p>
        </p:txBody>
      </p:sp>
      <p:sp>
        <p:nvSpPr>
          <p:cNvPr id="39" name="Shape 33"/>
          <p:cNvSpPr/>
          <p:nvPr/>
        </p:nvSpPr>
        <p:spPr>
          <a:xfrm>
            <a:off x="8042148" y="4023360"/>
            <a:ext cx="0" cy="274320"/>
          </a:xfrm>
          <a:prstGeom prst="line">
            <a:avLst/>
          </a:prstGeom>
          <a:noFill/>
          <a:ln w="15875">
            <a:solidFill>
              <a:srgbClr val="1A42A8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562088" y="429768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A42A8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562088" y="42976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ru-RU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8659368" y="4279392"/>
            <a:ext cx="2819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приложение; проверка здоровья GET /api/health</a:t>
            </a:r>
            <a:endParaRPr lang="ru-RU" sz="1050" dirty="0"/>
          </a:p>
        </p:txBody>
      </p:sp>
      <p:sp>
        <p:nvSpPr>
          <p:cNvPr id="43" name="Shape 37"/>
          <p:cNvSpPr/>
          <p:nvPr/>
        </p:nvSpPr>
        <p:spPr>
          <a:xfrm>
            <a:off x="7562088" y="4892040"/>
            <a:ext cx="3879799" cy="0"/>
          </a:xfrm>
          <a:prstGeom prst="line">
            <a:avLst/>
          </a:prstGeom>
          <a:noFill/>
          <a:ln w="12700">
            <a:solidFill>
              <a:srgbClr val="D5DBE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562088" y="4983480"/>
            <a:ext cx="38797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на GitHub: </a:t>
            </a:r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 e2e, затем сборка compose и проверка /api/health, / и /demo</a:t>
            </a:r>
            <a:endParaRPr lang="ru-RU" sz="1050" dirty="0"/>
          </a:p>
        </p:txBody>
      </p:sp>
      <p:sp>
        <p:nvSpPr>
          <p:cNvPr id="45" name="Shape 39"/>
          <p:cNvSpPr/>
          <p:nvPr/>
        </p:nvSpPr>
        <p:spPr>
          <a:xfrm>
            <a:off x="548640" y="5788152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E8EEF9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731520" y="5788152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в каждом расчёте:  </a:t>
            </a:r>
            <a:pPr algn="l" indent="0" marL="0">
              <a:buNone/>
            </a:pPr>
            <a:r>
              <a:rPr lang="ru-RU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tz-1.0.0 · имитация sim-1.0.0 · данные расчёта нового проекта 7be2cba2 · выпуск данных организатора 72eb7f93</a:t>
            </a:r>
            <a:endParaRPr lang="ru-RU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829154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2600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провенанс · ТЗ §3.3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организатора целиком, у каждого числа — источник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ru-RU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50160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517904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ru-RU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237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 в каталоге; у 187 — id каталога организатора</a:t>
            </a:r>
            <a:endParaRPr lang="ru-RU" sz="1100" dirty="0"/>
          </a:p>
        </p:txBody>
      </p:sp>
      <p:sp>
        <p:nvSpPr>
          <p:cNvPr id="10" name="Shape 8"/>
          <p:cNvSpPr/>
          <p:nvPr/>
        </p:nvSpPr>
        <p:spPr>
          <a:xfrm>
            <a:off x="3363392" y="1463040"/>
            <a:ext cx="2650160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6272" y="1517904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ru-RU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46272" y="2084832"/>
            <a:ext cx="237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характеристиками из открытых источников</a:t>
            </a:r>
            <a:endParaRPr lang="ru-RU" sz="1100" dirty="0"/>
          </a:p>
        </p:txBody>
      </p:sp>
      <p:sp>
        <p:nvSpPr>
          <p:cNvPr id="13" name="Shape 11"/>
          <p:cNvSpPr/>
          <p:nvPr/>
        </p:nvSpPr>
        <p:spPr>
          <a:xfrm>
            <a:off x="6178144" y="1463040"/>
            <a:ext cx="2650160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1024" y="1517904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ru-RU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61024" y="2084832"/>
            <a:ext cx="237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идут в подбор и расчёт склада</a:t>
            </a:r>
            <a:endParaRPr lang="ru-RU" sz="1100" dirty="0"/>
          </a:p>
        </p:txBody>
      </p:sp>
      <p:sp>
        <p:nvSpPr>
          <p:cNvPr id="16" name="Shape 14"/>
          <p:cNvSpPr/>
          <p:nvPr/>
        </p:nvSpPr>
        <p:spPr>
          <a:xfrm>
            <a:off x="8992895" y="1463040"/>
            <a:ext cx="2650160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75775" y="1517904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2 615</a:t>
            </a:r>
            <a:endParaRPr lang="ru-RU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75775" y="2084832"/>
            <a:ext cx="237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 с источником, датой и признаком подтверждения</a:t>
            </a:r>
            <a:endParaRPr lang="ru-RU" sz="1100" dirty="0"/>
          </a:p>
        </p:txBody>
      </p:sp>
      <p:pic>
        <p:nvPicPr>
          <p:cNvPr id="19" name="Image 0" descr="C:\Users\alfas\AppData\Local\Temp\claude\C--Users-alfas-hackaton\4902f530-8ce2-43a7-ba9b-22b197422138\scratchpad\gen\deck\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61488"/>
            <a:ext cx="5432908" cy="233080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" y="2761488"/>
            <a:ext cx="5432908" cy="2330802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pic>
        <p:nvPicPr>
          <p:cNvPr id="21" name="Image 1" descr="C:\Users\alfas\AppData\Local\Temp\claude\C--Users-alfas-hackaton\4902f530-8ce2-43a7-ba9b-22b197422138\scratchpad\gen\deck\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48" y="2761488"/>
            <a:ext cx="5432908" cy="233080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10148" y="2761488"/>
            <a:ext cx="5432908" cy="2330802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120640"/>
            <a:ext cx="5432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/catalog — дерево «отрасль → тип объекта → процесс → тип решения → продукт», фильтры, поиск, сравнение</a:t>
            </a:r>
            <a:endParaRPr lang="ru-RU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210148" y="5120640"/>
            <a:ext cx="5432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/catalog/ronavi-h1500 — значение, цитата «как в источнике», бейдж происхождения, дата, подтверждение</a:t>
            </a:r>
            <a:endParaRPr lang="ru-RU" sz="950" dirty="0"/>
          </a:p>
        </p:txBody>
      </p:sp>
      <p:sp>
        <p:nvSpPr>
          <p:cNvPr id="25" name="Shape 21"/>
          <p:cNvSpPr/>
          <p:nvPr/>
        </p:nvSpPr>
        <p:spPr>
          <a:xfrm>
            <a:off x="548640" y="5532120"/>
            <a:ext cx="5099613" cy="201168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26" name="Shape 22"/>
          <p:cNvSpPr/>
          <p:nvPr/>
        </p:nvSpPr>
        <p:spPr>
          <a:xfrm>
            <a:off x="5648253" y="5532120"/>
            <a:ext cx="2965582" cy="201168"/>
          </a:xfrm>
          <a:prstGeom prst="rect">
            <a:avLst/>
          </a:prstGeom>
          <a:solidFill>
            <a:srgbClr val="2978D6"/>
          </a:solidFill>
          <a:ln/>
        </p:spPr>
      </p:sp>
      <p:sp>
        <p:nvSpPr>
          <p:cNvPr id="27" name="Shape 23"/>
          <p:cNvSpPr/>
          <p:nvPr/>
        </p:nvSpPr>
        <p:spPr>
          <a:xfrm>
            <a:off x="8613834" y="5532120"/>
            <a:ext cx="2604960" cy="201168"/>
          </a:xfrm>
          <a:prstGeom prst="rect">
            <a:avLst/>
          </a:prstGeom>
          <a:solidFill>
            <a:srgbClr val="007E4B"/>
          </a:solidFill>
          <a:ln/>
        </p:spPr>
      </p:sp>
      <p:sp>
        <p:nvSpPr>
          <p:cNvPr id="28" name="Shape 24"/>
          <p:cNvSpPr/>
          <p:nvPr/>
        </p:nvSpPr>
        <p:spPr>
          <a:xfrm>
            <a:off x="11218795" y="5532120"/>
            <a:ext cx="420018" cy="201168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9" name="Shape 25"/>
          <p:cNvSpPr/>
          <p:nvPr/>
        </p:nvSpPr>
        <p:spPr>
          <a:xfrm>
            <a:off x="11638813" y="5532120"/>
            <a:ext cx="27432" cy="201168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 1 202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buNone/>
            </a:pPr>
            <a:r>
              <a:rPr lang="ru-RU" sz="1200" dirty="0">
                <a:solidFill>
                  <a:srgbClr val="29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699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buNone/>
            </a:pPr>
            <a:r>
              <a:rPr lang="ru-RU" sz="120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источник 614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buNone/>
            </a:pPr>
            <a:r>
              <a:rPr lang="ru-RU" sz="120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выбор 99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buNone/>
            </a:pPr>
            <a:r>
              <a:rPr lang="ru-RU" sz="120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1</a:t>
            </a:r>
            <a:pPr algn="l" indent="0" marL="0">
              <a:buNone/>
            </a:pPr>
            <a:pPr algn="l" indent="0" marL="0">
              <a:buNone/>
            </a:pPr>
            <a:r>
              <a:rPr lang="ru-RU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подтверждены первоисточником: 170</a:t>
            </a:r>
            <a:endParaRPr lang="ru-RU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не прячет исключённые решения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решения — статус, причины с числами объекта и продукта, ограничения, недостающие данные и балл, разложенный по факторам.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1051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Кандидат: статус, балл по факторам, причины</a:t>
            </a:r>
            <a:endParaRPr lang="ru-RU" sz="1050" dirty="0"/>
          </a:p>
        </p:txBody>
      </p:sp>
      <p:pic>
        <p:nvPicPr>
          <p:cNvPr id="11" name="Image 0" descr="C:\Users\alfas\AppData\Local\Temp\claude\C--Users-alfas-hackaton\4902f530-8ce2-43a7-ba9b-22b197422138\scratchpad\gen\deck\sel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6544"/>
            <a:ext cx="4343400" cy="220263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2066544"/>
            <a:ext cx="4343400" cy="2202636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3606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Исключённые: причина с числами объекта и продукта</a:t>
            </a:r>
            <a:endParaRPr lang="ru-RU" sz="1050" dirty="0"/>
          </a:p>
        </p:txBody>
      </p:sp>
      <p:pic>
        <p:nvPicPr>
          <p:cNvPr id="14" name="Image 1" descr="C:\Users\alfas\AppData\Local\Temp\claude\C--Users-alfas-hackaton\4902f530-8ce2-43a7-ba9b-22b197422138\scratchpad\gen\deck\sel-ex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16652"/>
            <a:ext cx="3803118" cy="16561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" y="4616652"/>
            <a:ext cx="3803118" cy="1656132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12080" y="1810512"/>
            <a:ext cx="3133192" cy="2139696"/>
          </a:xfrm>
          <a:prstGeom prst="roundRect">
            <a:avLst>
              <a:gd name="adj" fmla="val 3419"/>
            </a:avLst>
          </a:prstGeom>
          <a:solidFill>
            <a:srgbClr val="FBE7E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376672" y="1938528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BB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Жёсткие правила исключают</a:t>
            </a:r>
            <a:endParaRPr lang="ru-RU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376672" y="2313432"/>
            <a:ext cx="2840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НИОКР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не найдена у производителя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грузоподъёмность ниже массы груза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 уже, чем нужно роботу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температурный режим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не для этого процесса</a:t>
            </a:r>
            <a:endParaRPr lang="ru-RU" sz="1150" dirty="0"/>
          </a:p>
        </p:txBody>
      </p:sp>
      <p:sp>
        <p:nvSpPr>
          <p:cNvPr id="19" name="Shape 15"/>
          <p:cNvSpPr/>
          <p:nvPr/>
        </p:nvSpPr>
        <p:spPr>
          <a:xfrm>
            <a:off x="8509864" y="1810512"/>
            <a:ext cx="3133192" cy="2139696"/>
          </a:xfrm>
          <a:prstGeom prst="roundRect">
            <a:avLst>
              <a:gd name="adj" fmla="val 3419"/>
            </a:avLst>
          </a:prstGeom>
          <a:solidFill>
            <a:srgbClr val="FBF0D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74456" y="1938528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Мягкие правила — ограничения</a:t>
            </a:r>
            <a:endParaRPr lang="ru-RU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674456" y="2313432"/>
            <a:ext cx="2840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малый запас грузоподъёмности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подъём только по горизонтали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статус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спорная цена</a:t>
            </a:r>
            <a:endParaRPr lang="ru-RU" sz="1150" dirty="0"/>
          </a:p>
        </p:txBody>
      </p:sp>
      <p:sp>
        <p:nvSpPr>
          <p:cNvPr id="22" name="Shape 18"/>
          <p:cNvSpPr/>
          <p:nvPr/>
        </p:nvSpPr>
        <p:spPr>
          <a:xfrm>
            <a:off x="5212080" y="4114800"/>
            <a:ext cx="3133192" cy="2139696"/>
          </a:xfrm>
          <a:prstGeom prst="roundRect">
            <a:avLst>
              <a:gd name="adj" fmla="val 3419"/>
            </a:avLst>
          </a:prstGeom>
          <a:solidFill>
            <a:srgbClr val="E8EEF9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376672" y="4242816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 из пяти факторов</a:t>
            </a:r>
            <a:endParaRPr lang="ru-RU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376672" y="4617720"/>
            <a:ext cx="2840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полнота и подтверждённость данных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зрелость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по грузоподъёмности и проходу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кейсы — вклад каждого виден на полосе</a:t>
            </a:r>
            <a:endParaRPr lang="ru-RU" sz="1150" dirty="0"/>
          </a:p>
        </p:txBody>
      </p:sp>
      <p:sp>
        <p:nvSpPr>
          <p:cNvPr id="25" name="Shape 21"/>
          <p:cNvSpPr/>
          <p:nvPr/>
        </p:nvSpPr>
        <p:spPr>
          <a:xfrm>
            <a:off x="8509864" y="4114800"/>
            <a:ext cx="3133192" cy="2139696"/>
          </a:xfrm>
          <a:prstGeom prst="roundRect">
            <a:avLst>
              <a:gd name="adj" fmla="val 3419"/>
            </a:avLst>
          </a:prstGeom>
          <a:solidFill>
            <a:srgbClr val="F4F6F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674456" y="4242816"/>
            <a:ext cx="285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добавление и пробелы</a:t>
            </a:r>
            <a:endParaRPr lang="ru-RU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674456" y="4617720"/>
            <a:ext cx="2840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исключённое решение — только с причиной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значок ⚠ в сравнении, отчёте и Excel и запись в журнале</a:t>
            </a:r>
            <a:endParaRPr lang="ru-RU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ни производительности, ни скорости — статус «Недостаточно данных», а не молчаливый ноль</a:t>
            </a:r>
            <a:endParaRPr lang="ru-RU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Формулы ТЗ без скрытых коэффициентов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CAPEX, OPEX, годовой эффект, окупаемость, ROI и TCO — по зависимостям ТЗ §3.5.2. У каждой статьи есть формула, подстановка чисел и бейдж источника.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993392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Nточн = λпик / (thrэфф × U × A) × (1 + резерв)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max(1; ⌈Nточн⌉);  thrэфф = min(thrнорм; thrцикл)</a:t>
            </a:r>
            <a:endParaRPr lang="ru-RU" sz="1100" dirty="0"/>
          </a:p>
          <a:p>
            <a:pPr algn="l" indent="0" marL="0">
              <a:buNone/>
            </a:pPr>
            <a:r>
              <a:rPr lang="ru-RU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 + зарядки + инфраструктура + ПО + интеграция + пусконаладка + обучение + резерв</a:t>
            </a:r>
            <a:endParaRPr lang="ru-RU" sz="1100" dirty="0"/>
          </a:p>
          <a:p>
            <a:pPr algn="l" indent="0" marL="0">
              <a:buNone/>
            </a:pPr>
            <a:r>
              <a:rPr lang="ru-RU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покупки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+ лицензии + электроэнергия + связь + расходные материалы + ремонт + замена АКБ + персонал эксплуатации + оставшийся ФОТ</a:t>
            </a:r>
            <a:endParaRPr lang="ru-RU" sz="1100" dirty="0"/>
          </a:p>
          <a:p>
            <a:pPr algn="l" indent="0" marL="0">
              <a:buNone/>
            </a:pPr>
            <a:r>
              <a:rPr lang="ru-RU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услуги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+ электроэнергия + связь + персонал эксплуатации + оставшийся ФОТ</a:t>
            </a:r>
            <a:endParaRPr lang="ru-RU" sz="1100" dirty="0"/>
          </a:p>
          <a:p>
            <a:pPr algn="l" indent="0" marL="0">
              <a:buNone/>
            </a:pPr>
            <a:r>
              <a:rPr lang="ru-RU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и окупаемость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OPEXкак есть − OPEXсценария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 = CAPEX / E при E &gt; 0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= Σ CFt (t = 1…H) / CAPEX × 100 %</a:t>
            </a:r>
            <a:endParaRPr lang="ru-RU" sz="1100" dirty="0"/>
          </a:p>
          <a:p>
            <a:pPr algn="l" indent="0" marL="0">
              <a:buNone/>
            </a:pPr>
            <a:r>
              <a:rPr lang="ru-RU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sz="11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</a:t>
            </a:r>
            <a:endParaRPr lang="ru-RU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+ Σ (OPEXt + докупкаt), горизонт не меньше пяти лет (ТЗ §3.5.2); дополнительно — NPV и дисконтированная окупаемость</a:t>
            </a:r>
            <a:endParaRPr lang="ru-RU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874520"/>
            <a:ext cx="5745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Проверим на примере: «Покупка — Ronavi H1500»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2194560"/>
            <a:ext cx="165902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07608" y="2249424"/>
            <a:ext cx="1476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«как есть» в год</a:t>
            </a:r>
            <a:endParaRPr lang="ru-RU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007608" y="2459736"/>
            <a:ext cx="1476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46 872 000 ₽</a:t>
            </a:r>
            <a:endParaRPr lang="ru-RU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56906" y="2194560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ru-RU" sz="1700" dirty="0"/>
          </a:p>
        </p:txBody>
      </p:sp>
      <p:sp>
        <p:nvSpPr>
          <p:cNvPr id="17" name="Shape 15"/>
          <p:cNvSpPr/>
          <p:nvPr/>
        </p:nvSpPr>
        <p:spPr>
          <a:xfrm>
            <a:off x="7940954" y="2194560"/>
            <a:ext cx="165902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50682" y="2249424"/>
            <a:ext cx="1476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покупки в год</a:t>
            </a:r>
            <a:endParaRPr lang="ru-RU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50682" y="2459736"/>
            <a:ext cx="1476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37 550 398 ₽</a:t>
            </a:r>
            <a:endParaRPr lang="ru-RU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99981" y="2194560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ru-RU" sz="1700" dirty="0"/>
          </a:p>
        </p:txBody>
      </p:sp>
      <p:sp>
        <p:nvSpPr>
          <p:cNvPr id="21" name="Shape 19"/>
          <p:cNvSpPr/>
          <p:nvPr/>
        </p:nvSpPr>
        <p:spPr>
          <a:xfrm>
            <a:off x="9984029" y="2194560"/>
            <a:ext cx="1659026" cy="603504"/>
          </a:xfrm>
          <a:prstGeom prst="roundRect">
            <a:avLst>
              <a:gd name="adj" fmla="val 12121"/>
            </a:avLst>
          </a:prstGeom>
          <a:solidFill>
            <a:srgbClr val="E8EEF9"/>
          </a:solidFill>
          <a:ln w="9525">
            <a:solidFill>
              <a:srgbClr val="C9D6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93757" y="2249424"/>
            <a:ext cx="1476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эффект</a:t>
            </a:r>
            <a:endParaRPr lang="ru-RU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093757" y="2459736"/>
            <a:ext cx="1476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9 321 602 ₽</a:t>
            </a:r>
            <a:endParaRPr lang="ru-RU" sz="1400" dirty="0"/>
          </a:p>
        </p:txBody>
      </p:sp>
      <p:sp>
        <p:nvSpPr>
          <p:cNvPr id="24" name="Shape 22"/>
          <p:cNvSpPr/>
          <p:nvPr/>
        </p:nvSpPr>
        <p:spPr>
          <a:xfrm>
            <a:off x="5897880" y="2907792"/>
            <a:ext cx="1659026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07608" y="2962656"/>
            <a:ext cx="1476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ru-RU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07608" y="3172968"/>
            <a:ext cx="1476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38 500 000 ₽</a:t>
            </a:r>
            <a:endParaRPr lang="ru-RU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56906" y="2907792"/>
            <a:ext cx="384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E</a:t>
            </a:r>
            <a:endParaRPr lang="ru-RU" sz="1200" dirty="0"/>
          </a:p>
        </p:txBody>
      </p:sp>
      <p:sp>
        <p:nvSpPr>
          <p:cNvPr id="28" name="Shape 26"/>
          <p:cNvSpPr/>
          <p:nvPr/>
        </p:nvSpPr>
        <p:spPr>
          <a:xfrm>
            <a:off x="7940954" y="2907792"/>
            <a:ext cx="3702101" cy="603504"/>
          </a:xfrm>
          <a:prstGeom prst="roundRect">
            <a:avLst>
              <a:gd name="adj" fmla="val 12121"/>
            </a:avLst>
          </a:prstGeom>
          <a:solidFill>
            <a:srgbClr val="E8EEF9"/>
          </a:solidFill>
          <a:ln w="9525">
            <a:solidFill>
              <a:srgbClr val="C9D6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0682" y="2962656"/>
            <a:ext cx="35192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(простая)</a:t>
            </a:r>
            <a:endParaRPr lang="ru-RU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50682" y="3172968"/>
            <a:ext cx="35192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 г. — средняя окупаемость (3–5 лет)</a:t>
            </a:r>
            <a:endParaRPr lang="ru-RU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3621024"/>
            <a:ext cx="278114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07608" y="3675888"/>
            <a:ext cx="25982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по ТЗ</a:t>
            </a:r>
            <a:endParaRPr lang="ru-RU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007608" y="3886200"/>
            <a:ext cx="2598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123 %</a:t>
            </a:r>
            <a:endParaRPr lang="ru-RU" sz="1400" dirty="0"/>
          </a:p>
        </p:txBody>
      </p:sp>
      <p:sp>
        <p:nvSpPr>
          <p:cNvPr id="34" name="Shape 32"/>
          <p:cNvSpPr/>
          <p:nvPr/>
        </p:nvSpPr>
        <p:spPr>
          <a:xfrm>
            <a:off x="8861908" y="3621024"/>
            <a:ext cx="278114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5DB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71636" y="3675888"/>
            <a:ext cx="25982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за 5 лет</a:t>
            </a:r>
            <a:endParaRPr lang="ru-RU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971636" y="3886200"/>
            <a:ext cx="2598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225 509 489 ₽</a:t>
            </a:r>
            <a:endParaRPr lang="ru-RU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4407408"/>
            <a:ext cx="57451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«CAPEX по статьям» на шаге 5: формула, подстановка, бейдж источника (снимок сборки)</a:t>
            </a:r>
            <a:endParaRPr lang="ru-RU" sz="950" dirty="0"/>
          </a:p>
        </p:txBody>
      </p:sp>
      <p:pic>
        <p:nvPicPr>
          <p:cNvPr id="38" name="Image 0" descr="C:\Users\alfas\AppData\Local\Temp\claude\C--Users-alfas-hackaton\4902f530-8ce2-43a7-ba9b-22b197422138\scratchpad\gen\deck\ca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4663440"/>
            <a:ext cx="3776866" cy="1609344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5897880" y="4663440"/>
            <a:ext cx="3776866" cy="1609344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AMR 1500 — лучший NPV, но с явными рисками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сценарии в одной таблице (ТЗ §2.2, шаг 6); вывод — число, интерпретация и риски, а не вердикт (ТЗ §3.5.7).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ru-RU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72768"/>
                <a:gridCol w="2578608"/>
                <a:gridCol w="2578608"/>
                <a:gridCol w="2578608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есть</a:t>
                      </a:r>
                      <a:endParaRPr lang="ru-RU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Покупка — Ronavi H1500</a:t>
                      </a:r>
                      <a:endParaRPr lang="ru-RU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Услуга (RaaS) — Ronavi H1500</a:t>
                      </a:r>
                      <a:endParaRPr lang="ru-RU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Покупка — AMR 1500</a:t>
                      </a:r>
                      <a:endParaRPr lang="ru-RU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2A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Состав оборудования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текущий процесс, без роботов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роботов · 1 зарядка · 1 пост диспетчера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роботов · 1 зарядка · 1 пост диспетчера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роботов · 2 зарядки · 1 пост диспетчера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38 500 000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1 540 000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32 780 000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OPEX в год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46 872 000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37 550 398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45 816 898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36 851 898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Годовой эффект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9 321 602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1 055 102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10 020 102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Окупаемость (простая)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 г. — средняя окупаемость (3–5 лет)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 г. — быстрая окупаемость (менее 3 лет)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 г. — средняя окупаемость (3–5 лет)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 по ТЗ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123 %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342,6 % (неинформативен при малом CAPEX)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154,7 %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-4 108 652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2 263 407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3 983 162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Дисконтированная окупаемость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 горизонтом расчёта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 г.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 г.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TCO за 5 лет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234 360 000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225 509 489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230 624 489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216 434 489 ₽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Имитация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подтверждено: 132,5 из 129,5 пал./ч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подтверждено: 132,5 из 129,5 пал./ч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подтверждено: 132 из 129,5 пал./ч</a:t>
                      </a:r>
                      <a:endParaRPr lang="ru-RU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230368"/>
            <a:ext cx="11094415" cy="1042416"/>
          </a:xfrm>
          <a:prstGeom prst="roundRect">
            <a:avLst>
              <a:gd name="adj" fmla="val 7018"/>
            </a:avLst>
          </a:prstGeom>
          <a:solidFill>
            <a:srgbClr val="E8EE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530352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Рекомендуемый сценарий: Покупка — AMR 1500. NPV 3 983 162 ₽ за 5 лет, окупаемость 3,3 года — средняя окупаемость (3–5 лет).</a:t>
            </a:r>
            <a:endParaRPr lang="ru-RU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59612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"/>
              </a:spcAft>
              <a:buSzPct val="100000"/>
              <a:buChar char="•"/>
            </a:pPr>
            <a:r>
              <a:rPr lang="ru-RU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(средний): Цена «AMR 1500 (грузоподъемность до 1 500 кг)» 2 200 000 ₽ не подтверждена производителем — уточните её по коммерческому предложению</a:t>
            </a:r>
            <a:endParaRPr lang="ru-RU" sz="1000" dirty="0"/>
          </a:p>
          <a:p>
            <a:pPr algn="l" marL="177800" indent="-177800">
              <a:spcAft>
                <a:spcPts val="100"/>
              </a:spcAft>
              <a:buSzPct val="100000"/>
              <a:buChar char="•"/>
            </a:pPr>
            <a:r>
              <a:rPr lang="ru-RU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(средний): «AMR 1500 (грузоподъемность до 1 500 кг)» в пилотной эксплуатации — серийных внедрений мало, характеристики могут измениться</a:t>
            </a:r>
            <a:endParaRPr lang="ru-RU" sz="1000" dirty="0"/>
          </a:p>
          <a:p>
            <a:pPr algn="l" marL="177800" indent="-177800">
              <a:spcAft>
                <a:spcPts val="100"/>
              </a:spcAft>
              <a:buSzPct val="100000"/>
              <a:buChar char="•"/>
            </a:pPr>
            <a:r>
              <a:rPr lang="ru-RU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(средний): NPV меняет знак в пределах диапазона «Доля автоматизируемого труда» 30–70 %: от -28,1 млн ₽ до 36,1 млн ₽</a:t>
            </a:r>
            <a:endParaRPr lang="ru-RU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 подтверждает парк 11 и опровергает 3 «по норме»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Паспортная норма H1500 верна для короткого плеча. На планировке этого объекта цикл в 4,7 раза меньше, и роботов нужно 11, а не 3.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ru-RU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5074920" cy="292608"/>
          </a:xfrm>
          <a:prstGeom prst="roundRect">
            <a:avLst>
              <a:gd name="adj" fmla="val 15625"/>
            </a:avLst>
          </a:prstGeom>
          <a:solidFill>
            <a:srgbClr val="E3F3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18470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по расчёту — 11 роботов: подтверждён (132,5 пал./ч)</a:t>
            </a:r>
            <a:endParaRPr lang="ru-RU" sz="1100" dirty="0"/>
          </a:p>
        </p:txBody>
      </p:sp>
      <p:pic>
        <p:nvPicPr>
          <p:cNvPr id="12" name="Image 0" descr="C:\Users\alfas\AppData\Local\Temp\claude\C--Users-alfas-hackaton\4902f530-8ce2-43a7-ba9b-22b197422138\scratchpad\gen\deck\sim-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6272"/>
            <a:ext cx="5074920" cy="171849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8640" y="2176272"/>
            <a:ext cx="5074920" cy="1718491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022779"/>
            <a:ext cx="5074920" cy="292608"/>
          </a:xfrm>
          <a:prstGeom prst="roundRect">
            <a:avLst>
              <a:gd name="adj" fmla="val 15625"/>
            </a:avLst>
          </a:prstGeom>
          <a:solidFill>
            <a:srgbClr val="FBE7E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" y="4022779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BB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по паспортной норме — 3 робота: не подтверждён</a:t>
            </a:r>
            <a:endParaRPr lang="ru-RU" sz="1100" dirty="0"/>
          </a:p>
        </p:txBody>
      </p:sp>
      <p:pic>
        <p:nvPicPr>
          <p:cNvPr id="16" name="Image 1" descr="C:\Users\alfas\AppData\Local\Temp\claude\C--Users-alfas-hackaton\4902f530-8ce2-43a7-ba9b-22b197422138\scratchpad\gen\deck\sim-n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51963"/>
            <a:ext cx="5074920" cy="171849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4351963"/>
            <a:ext cx="5074920" cy="1718491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89320" y="1847088"/>
            <a:ext cx="5653735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6135624" y="1993392"/>
            <a:ext cx="347472" cy="347472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35624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ru-RU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611112" y="1975104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Паспортная норма организатора</a:t>
            </a:r>
            <a:endParaRPr lang="ru-RU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611112" y="2231136"/>
            <a:ext cx="4922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пал./ч → 3 робота</a:t>
            </a:r>
            <a:endParaRPr lang="ru-RU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611112" y="269748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ней хватило бы трёх роботов — но норма верна для короткого плеча</a:t>
            </a:r>
            <a:endParaRPr lang="ru-RU" sz="1100" dirty="0"/>
          </a:p>
        </p:txBody>
      </p:sp>
      <p:sp>
        <p:nvSpPr>
          <p:cNvPr id="24" name="Shape 20"/>
          <p:cNvSpPr/>
          <p:nvPr/>
        </p:nvSpPr>
        <p:spPr>
          <a:xfrm>
            <a:off x="5989320" y="3236976"/>
            <a:ext cx="5653735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5" name="Shape 21"/>
          <p:cNvSpPr/>
          <p:nvPr/>
        </p:nvSpPr>
        <p:spPr>
          <a:xfrm>
            <a:off x="6135624" y="3383280"/>
            <a:ext cx="347472" cy="347472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135624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ru-RU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611112" y="3364992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на планировке объекта</a:t>
            </a:r>
            <a:endParaRPr lang="ru-RU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611112" y="3621024"/>
            <a:ext cx="4922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2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19,2 пал./ч → 11 роботов</a:t>
            </a:r>
            <a:endParaRPr lang="ru-RU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6611112" y="4087368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λпик 129,55 пал./ч; плечо 93,82 / 103,6 м с грузом / порожним; </a:t>
            </a:r>
            <a:pPr algn="l" indent="0" marL="0">
              <a:buNone/>
            </a:pPr>
            <a:r>
              <a:rPr lang="ru-RU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Nточн 10,2159 → 11</a:t>
            </a:r>
            <a:endParaRPr lang="ru-RU" sz="1100" dirty="0"/>
          </a:p>
        </p:txBody>
      </p:sp>
      <p:sp>
        <p:nvSpPr>
          <p:cNvPr id="30" name="Shape 26"/>
          <p:cNvSpPr/>
          <p:nvPr/>
        </p:nvSpPr>
        <p:spPr>
          <a:xfrm>
            <a:off x="5989320" y="4764024"/>
            <a:ext cx="5653735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31" name="Shape 27"/>
          <p:cNvSpPr/>
          <p:nvPr/>
        </p:nvSpPr>
        <p:spPr>
          <a:xfrm>
            <a:off x="6135624" y="4910328"/>
            <a:ext cx="347472" cy="347472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135624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ru-RU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611112" y="489204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 — арбитр</a:t>
            </a:r>
            <a:endParaRPr lang="ru-RU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611112" y="5148072"/>
            <a:ext cx="4922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200" b="1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подтверждён, 3 — нет</a:t>
            </a:r>
            <a:endParaRPr lang="ru-RU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6611112" y="5614416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Пик: 132,5 из 129,5 пал./ч. </a:t>
            </a:r>
            <a:pPr algn="l" indent="0" marL="0">
              <a:buNone/>
            </a:pPr>
            <a:r>
              <a:rPr lang="ru-RU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устойчивый парк — 9</a:t>
            </a:r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(перебор имитацией в [1; 2N]).</a:t>
            </a:r>
            <a:endParaRPr lang="ru-RU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614476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Дополнительный пример, не путь жюри: </a:t>
            </a:r>
            <a:pPr algn="l" indent="0" marL="0">
              <a:buNone/>
            </a:pPr>
            <a:r>
              <a:rPr lang="ru-RU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DMR Carrier P — норма 50, цикл 15,1739, парк 13 против 4 по норме; по норме не подтверждён.</a:t>
            </a:r>
            <a:endParaRPr lang="ru-RU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82419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1506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Чувствительность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меняется вывод: рычаги, горизонт, порог зарплаты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Рекомендуемая «Покупка — AMR 1500»: каждая граница — полный пересчёт модели. Границы — у организатора, где он их дал, иначе норматив или ±20 %.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ru-RU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470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при нижней границе     </a:t>
            </a:r>
            <a:pPr algn="l" indent="0" marL="0">
              <a:buNone/>
            </a:pPr>
            <a:r>
              <a:rPr lang="ru-RU" sz="120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l" indent="0" marL="0">
              <a:buNone/>
            </a:pPr>
            <a:r>
              <a:rPr lang="ru-RU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при верхней границе     </a:t>
            </a:r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┆ </a:t>
            </a:r>
            <a:pPr algn="l" indent="0" marL="0">
              <a:buNone/>
            </a:pPr>
            <a:r>
              <a:rPr lang="ru-RU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NPV 3 983 162 ₽</a:t>
            </a:r>
            <a:endParaRPr lang="ru-RU" sz="1000" dirty="0"/>
          </a:p>
        </p:txBody>
      </p:sp>
      <p:sp>
        <p:nvSpPr>
          <p:cNvPr id="11" name="Shape 9"/>
          <p:cNvSpPr/>
          <p:nvPr/>
        </p:nvSpPr>
        <p:spPr>
          <a:xfrm>
            <a:off x="5582200" y="2167128"/>
            <a:ext cx="0" cy="3931920"/>
          </a:xfrm>
          <a:prstGeom prst="line">
            <a:avLst/>
          </a:prstGeom>
          <a:noFill/>
          <a:ln w="9525">
            <a:solidFill>
              <a:srgbClr val="9AA3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5000" y="6099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= 0</a:t>
            </a:r>
            <a:endParaRPr lang="ru-RU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772668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" y="2249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автоматизируемого труда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30–70 % (норматив)</a:t>
            </a:r>
            <a:endParaRPr lang="ru-RU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2331720"/>
            <a:ext cx="1623060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783580" y="2331720"/>
            <a:ext cx="1623060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27832" y="230428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-28 119 821 ₽</a:t>
            </a:r>
            <a:endParaRPr lang="ru-RU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443216" y="230428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36 086 145 ₽</a:t>
            </a:r>
            <a:endParaRPr lang="ru-RU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633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Зарплата оператора погрузчика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80 000–170 000 ₽/мес (организатор)</a:t>
            </a:r>
            <a:endParaRPr lang="ru-RU" sz="1000" dirty="0"/>
          </a:p>
        </p:txBody>
      </p:sp>
      <p:sp>
        <p:nvSpPr>
          <p:cNvPr id="20" name="Shape 18"/>
          <p:cNvSpPr/>
          <p:nvPr/>
        </p:nvSpPr>
        <p:spPr>
          <a:xfrm>
            <a:off x="4894592" y="2715768"/>
            <a:ext cx="888988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83580" y="2715768"/>
            <a:ext cx="1111235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61904" y="268833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-13 600 387 ₽</a:t>
            </a:r>
            <a:endParaRPr lang="ru-RU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931391" y="268833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25 962 598 ₽</a:t>
            </a:r>
            <a:endParaRPr lang="ru-RU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990088"/>
            <a:ext cx="772668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Пиковый коэффициент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1,2–2,5 коэф. (организатор)</a:t>
            </a:r>
            <a:endParaRPr lang="ru-RU" sz="1000" dirty="0"/>
          </a:p>
        </p:txBody>
      </p:sp>
      <p:sp>
        <p:nvSpPr>
          <p:cNvPr id="26" name="Shape 24"/>
          <p:cNvSpPr/>
          <p:nvPr/>
        </p:nvSpPr>
        <p:spPr>
          <a:xfrm>
            <a:off x="5783580" y="3099816"/>
            <a:ext cx="402786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0462" y="3099816"/>
            <a:ext cx="1443118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07774" y="30723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-24 560 692 ₽</a:t>
            </a:r>
            <a:endParaRPr lang="ru-RU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22942" y="30723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11 949 977 ₽</a:t>
            </a:r>
            <a:endParaRPr lang="ru-RU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3401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расчёта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3–10 лет (организатор)</a:t>
            </a:r>
            <a:endParaRPr lang="ru-RU" sz="1000" dirty="0"/>
          </a:p>
        </p:txBody>
      </p:sp>
      <p:sp>
        <p:nvSpPr>
          <p:cNvPr id="31" name="Shape 29"/>
          <p:cNvSpPr/>
          <p:nvPr/>
        </p:nvSpPr>
        <p:spPr>
          <a:xfrm>
            <a:off x="5215134" y="3483864"/>
            <a:ext cx="568446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3580" y="3483864"/>
            <a:ext cx="495914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82446" y="345643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-7 260 297 ₽</a:t>
            </a:r>
            <a:endParaRPr lang="ru-RU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316070" y="345643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13 791 995 ₽</a:t>
            </a:r>
            <a:endParaRPr lang="ru-RU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3758184"/>
            <a:ext cx="772668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робота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1 760 000–2 640 000 ₽ (±20 %)</a:t>
            </a:r>
            <a:endParaRPr lang="ru-RU" sz="1000" dirty="0"/>
          </a:p>
        </p:txBody>
      </p:sp>
      <p:sp>
        <p:nvSpPr>
          <p:cNvPr id="37" name="Shape 35"/>
          <p:cNvSpPr/>
          <p:nvPr/>
        </p:nvSpPr>
        <p:spPr>
          <a:xfrm>
            <a:off x="5783580" y="3867912"/>
            <a:ext cx="417035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8" name="Shape 36"/>
          <p:cNvSpPr/>
          <p:nvPr/>
        </p:nvSpPr>
        <p:spPr>
          <a:xfrm>
            <a:off x="5366545" y="3867912"/>
            <a:ext cx="417035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33857" y="384048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-4 265 496 ₽</a:t>
            </a:r>
            <a:endParaRPr lang="ru-RU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37191" y="384048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12 231 820 ₽</a:t>
            </a:r>
            <a:endParaRPr lang="ru-RU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1696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робота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15,38–23,07 паллет/ч (±20 %)</a:t>
            </a:r>
            <a:endParaRPr lang="ru-RU" sz="1000" dirty="0"/>
          </a:p>
        </p:txBody>
      </p:sp>
      <p:sp>
        <p:nvSpPr>
          <p:cNvPr id="42" name="Shape 40"/>
          <p:cNvSpPr/>
          <p:nvPr/>
        </p:nvSpPr>
        <p:spPr>
          <a:xfrm>
            <a:off x="5364110" y="4251960"/>
            <a:ext cx="419470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3" name="Shape 41"/>
          <p:cNvSpPr/>
          <p:nvPr/>
        </p:nvSpPr>
        <p:spPr>
          <a:xfrm>
            <a:off x="5783580" y="4251960"/>
            <a:ext cx="402786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431422" y="422452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-4 313 654 ₽</a:t>
            </a:r>
            <a:endParaRPr lang="ru-RU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222942" y="422452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11 949 977 ₽</a:t>
            </a:r>
            <a:endParaRPr lang="ru-RU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4526280"/>
            <a:ext cx="772668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1792" y="45537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паллет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1 520–2 280 паллет/сут (±20 %)</a:t>
            </a:r>
            <a:endParaRPr lang="ru-RU" sz="1000" dirty="0"/>
          </a:p>
        </p:txBody>
      </p:sp>
      <p:sp>
        <p:nvSpPr>
          <p:cNvPr id="48" name="Shape 46"/>
          <p:cNvSpPr/>
          <p:nvPr/>
        </p:nvSpPr>
        <p:spPr>
          <a:xfrm>
            <a:off x="5783580" y="4636008"/>
            <a:ext cx="402786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49" name="Shape 47"/>
          <p:cNvSpPr/>
          <p:nvPr/>
        </p:nvSpPr>
        <p:spPr>
          <a:xfrm>
            <a:off x="5364110" y="4636008"/>
            <a:ext cx="419470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431422" y="460857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-4 313 654 ₽</a:t>
            </a:r>
            <a:endParaRPr lang="ru-RU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222942" y="460857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11 949 977 ₽</a:t>
            </a:r>
            <a:endParaRPr lang="ru-RU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4937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Сервис, % цены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10–24 % в год (норматив)</a:t>
            </a:r>
            <a:endParaRPr lang="ru-RU" sz="1000" dirty="0"/>
          </a:p>
        </p:txBody>
      </p:sp>
      <p:sp>
        <p:nvSpPr>
          <p:cNvPr id="53" name="Shape 51"/>
          <p:cNvSpPr/>
          <p:nvPr/>
        </p:nvSpPr>
        <p:spPr>
          <a:xfrm>
            <a:off x="5783580" y="5020056"/>
            <a:ext cx="88209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4" name="Shape 52"/>
          <p:cNvSpPr/>
          <p:nvPr/>
        </p:nvSpPr>
        <p:spPr>
          <a:xfrm>
            <a:off x="5254326" y="5020056"/>
            <a:ext cx="529254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321638" y="499262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-6 485 108 ₽</a:t>
            </a:r>
            <a:endParaRPr lang="ru-RU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5908365" y="499262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5 727 874 ₽</a:t>
            </a:r>
            <a:endParaRPr lang="ru-RU" sz="850" dirty="0"/>
          </a:p>
        </p:txBody>
      </p:sp>
      <p:sp>
        <p:nvSpPr>
          <p:cNvPr id="57" name="Shape 55"/>
          <p:cNvSpPr/>
          <p:nvPr/>
        </p:nvSpPr>
        <p:spPr>
          <a:xfrm>
            <a:off x="548640" y="5294376"/>
            <a:ext cx="772668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21792" y="53218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Ставка дисконтирования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8–20 % в год (норматив)</a:t>
            </a:r>
            <a:endParaRPr lang="ru-RU" sz="1000" dirty="0"/>
          </a:p>
        </p:txBody>
      </p:sp>
      <p:sp>
        <p:nvSpPr>
          <p:cNvPr id="59" name="Shape 57"/>
          <p:cNvSpPr/>
          <p:nvPr/>
        </p:nvSpPr>
        <p:spPr>
          <a:xfrm>
            <a:off x="5783580" y="5404104"/>
            <a:ext cx="196216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0" name="Shape 58"/>
          <p:cNvSpPr/>
          <p:nvPr/>
        </p:nvSpPr>
        <p:spPr>
          <a:xfrm>
            <a:off x="5472413" y="5404104"/>
            <a:ext cx="311167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539725" y="53766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-2 171 493 ₽</a:t>
            </a:r>
            <a:endParaRPr lang="ru-RU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016372" y="53766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7 864 180 ₽</a:t>
            </a:r>
            <a:endParaRPr lang="ru-RU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621792" y="57058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загрузки</a:t>
            </a:r>
            <a:endParaRPr lang="ru-RU" sz="1000" dirty="0"/>
          </a:p>
          <a:p>
            <a:pPr algn="l" indent="0" marL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70–85 % (норматив)</a:t>
            </a:r>
            <a:endParaRPr lang="ru-RU" sz="1000" dirty="0"/>
          </a:p>
        </p:txBody>
      </p:sp>
      <p:sp>
        <p:nvSpPr>
          <p:cNvPr id="64" name="Shape 62"/>
          <p:cNvSpPr/>
          <p:nvPr/>
        </p:nvSpPr>
        <p:spPr>
          <a:xfrm>
            <a:off x="5570245" y="5788152"/>
            <a:ext cx="213335" cy="18288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5" name="Shape 63"/>
          <p:cNvSpPr/>
          <p:nvPr/>
        </p:nvSpPr>
        <p:spPr>
          <a:xfrm>
            <a:off x="5783580" y="5788152"/>
            <a:ext cx="197441" cy="182880"/>
          </a:xfrm>
          <a:prstGeom prst="rect">
            <a:avLst/>
          </a:prstGeom>
          <a:solidFill>
            <a:srgbClr val="1A42A8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637557" y="5760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-236 460 ₽</a:t>
            </a:r>
            <a:endParaRPr lang="ru-RU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017597" y="576072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7 888 415 ₽</a:t>
            </a:r>
            <a:endParaRPr lang="ru-RU" sz="850" dirty="0"/>
          </a:p>
        </p:txBody>
      </p:sp>
      <p:sp>
        <p:nvSpPr>
          <p:cNvPr id="68" name="Shape 66"/>
          <p:cNvSpPr/>
          <p:nvPr/>
        </p:nvSpPr>
        <p:spPr>
          <a:xfrm>
            <a:off x="5783580" y="2167128"/>
            <a:ext cx="0" cy="3931920"/>
          </a:xfrm>
          <a:prstGeom prst="line">
            <a:avLst/>
          </a:prstGeom>
          <a:noFill/>
          <a:ln w="12700">
            <a:solidFill>
              <a:srgbClr val="111827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8549640" y="1847088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Рекомендуемый сценарий: Покупка — AMR 1500</a:t>
            </a:r>
            <a:endParaRPr lang="ru-RU" sz="1200" dirty="0"/>
          </a:p>
        </p:txBody>
      </p:sp>
      <p:sp>
        <p:nvSpPr>
          <p:cNvPr id="70" name="Shape 68"/>
          <p:cNvSpPr/>
          <p:nvPr/>
        </p:nvSpPr>
        <p:spPr>
          <a:xfrm>
            <a:off x="8549640" y="2377440"/>
            <a:ext cx="3093415" cy="1170432"/>
          </a:xfrm>
          <a:prstGeom prst="roundRect">
            <a:avLst>
              <a:gd name="adj" fmla="val 6250"/>
            </a:avLst>
          </a:prstGeom>
          <a:solidFill>
            <a:srgbClr val="E8EEF9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695944" y="2468880"/>
            <a:ext cx="2819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сильнее всего двигает NPV</a:t>
            </a:r>
            <a:endParaRPr lang="ru-RU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8695944" y="2724912"/>
            <a:ext cx="28190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Сильнейший рычаг — «Доля автоматизируемого труда»: при 30–70 % NPV от -28,1 млн ₽ до 36,1 млн ₽</a:t>
            </a:r>
            <a:endParaRPr lang="ru-RU" sz="1150" dirty="0"/>
          </a:p>
        </p:txBody>
      </p:sp>
      <p:sp>
        <p:nvSpPr>
          <p:cNvPr id="73" name="Shape 71"/>
          <p:cNvSpPr/>
          <p:nvPr/>
        </p:nvSpPr>
        <p:spPr>
          <a:xfrm>
            <a:off x="8549640" y="3657600"/>
            <a:ext cx="3093415" cy="960120"/>
          </a:xfrm>
          <a:prstGeom prst="roundRect">
            <a:avLst>
              <a:gd name="adj" fmla="val 7619"/>
            </a:avLst>
          </a:prstGeom>
          <a:solidFill>
            <a:srgbClr val="E8EEF9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695944" y="3749040"/>
            <a:ext cx="2819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меняется вывод</a:t>
            </a:r>
            <a:endParaRPr lang="ru-RU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8695944" y="4005072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горизонте ≤ 4 лет выгоднее «Услуга (RaaS) — Ronavi H1500»</a:t>
            </a:r>
            <a:endParaRPr lang="ru-RU" sz="1150" dirty="0"/>
          </a:p>
        </p:txBody>
      </p:sp>
      <p:sp>
        <p:nvSpPr>
          <p:cNvPr id="76" name="Shape 74"/>
          <p:cNvSpPr/>
          <p:nvPr/>
        </p:nvSpPr>
        <p:spPr>
          <a:xfrm>
            <a:off x="8549640" y="4727448"/>
            <a:ext cx="3093415" cy="1554480"/>
          </a:xfrm>
          <a:prstGeom prst="roundRect">
            <a:avLst>
              <a:gd name="adj" fmla="val 4706"/>
            </a:avLst>
          </a:prstGeom>
          <a:solidFill>
            <a:srgbClr val="E8EEF9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695944" y="4818888"/>
            <a:ext cx="2819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 зарплате</a:t>
            </a:r>
            <a:endParaRPr lang="ru-RU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8695944" y="5074920"/>
            <a:ext cx="2819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окупается (NPV ≥ 0) при зарплате от 110 939 ₽/мес</a:t>
            </a:r>
            <a:endParaRPr lang="ru-RU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8695944" y="5779008"/>
            <a:ext cx="2819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расчёте 120 000 ₽/мес; у покупки H1500 порог 129 347 ₽/мес</a:t>
            </a:r>
            <a:endParaRPr lang="ru-RU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420624"/>
            <a:ext cx="237744" cy="237744"/>
          </a:xfrm>
          <a:prstGeom prst="ellipse">
            <a:avLst/>
          </a:prstGeom>
          <a:solidFill>
            <a:srgbClr val="1A4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420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8404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Отчёт, выгрузки, API</a:t>
            </a:r>
            <a:endParaRPr lang="ru-RU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на экране, можно выгрузить</a:t>
            </a:r>
            <a:endParaRPr lang="ru-RU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для печати в PDF с оговоркой и версиями, книга Excel с живыми формулами, CSV и PNG имитации. Те же расчёты доступны через API v1 с описанием OpenAPI.</a:t>
            </a:r>
            <a:endParaRPr lang="ru-RU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ru-RU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432908" cy="2011680"/>
          </a:xfrm>
          <a:prstGeom prst="roundRect">
            <a:avLst>
              <a:gd name="adj" fmla="val 363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984248"/>
            <a:ext cx="515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(PDF)</a:t>
            </a:r>
            <a:endParaRPr lang="ru-RU" sz="1300" dirty="0"/>
          </a:p>
        </p:txBody>
      </p:sp>
      <p:pic>
        <p:nvPicPr>
          <p:cNvPr id="12" name="Image 0" descr="C:\Users\alfas\AppData\Local\Temp\claude\C--Users-alfas-hackaton\4902f530-8ce2-43a7-ba9b-22b197422138\scratchpad\gen\deck\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31720"/>
            <a:ext cx="2788920" cy="82705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3232" y="2331720"/>
            <a:ext cx="2788920" cy="827059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6744" y="2331720"/>
            <a:ext cx="21685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объекта, выбранные решения, состав оборудования, экономика, ограничения, источники, дата расчёта и оговорка «предварительная оценка». PDF — печатью браузера.</a:t>
            </a:r>
            <a:endParaRPr lang="ru-RU" sz="1050" dirty="0"/>
          </a:p>
        </p:txBody>
      </p:sp>
      <p:sp>
        <p:nvSpPr>
          <p:cNvPr id="15" name="Shape 12"/>
          <p:cNvSpPr/>
          <p:nvPr/>
        </p:nvSpPr>
        <p:spPr>
          <a:xfrm>
            <a:off x="6210148" y="1874520"/>
            <a:ext cx="5432908" cy="2011680"/>
          </a:xfrm>
          <a:prstGeom prst="roundRect">
            <a:avLst>
              <a:gd name="adj" fmla="val 363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74740" y="1984248"/>
            <a:ext cx="515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имитации</a:t>
            </a:r>
            <a:endParaRPr lang="ru-RU" sz="1300" dirty="0"/>
          </a:p>
        </p:txBody>
      </p:sp>
      <p:pic>
        <p:nvPicPr>
          <p:cNvPr id="17" name="Image 1" descr="C:/Users/alfas/hackaton/docs/submission/sample-simu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2331720"/>
            <a:ext cx="1731364" cy="14081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74740" y="2331720"/>
            <a:ext cx="1731364" cy="1408176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70696" y="2331720"/>
            <a:ext cx="32260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Схема, показатели, сценарий, seed, дата и оговорка — кнопка «Скачать PNG» на шаге 7.</a:t>
            </a:r>
            <a:endParaRPr lang="ru-RU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069080"/>
            <a:ext cx="5432908" cy="2011680"/>
          </a:xfrm>
          <a:prstGeom prst="roundRect">
            <a:avLst>
              <a:gd name="adj" fmla="val 363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13232" y="4178808"/>
            <a:ext cx="515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и CSV</a:t>
            </a:r>
            <a:endParaRPr lang="ru-RU" sz="1300" dirty="0"/>
          </a:p>
        </p:txBody>
      </p:sp>
      <p:sp>
        <p:nvSpPr>
          <p:cNvPr id="22" name="Shape 18"/>
          <p:cNvSpPr/>
          <p:nvPr/>
        </p:nvSpPr>
        <p:spPr>
          <a:xfrm>
            <a:off x="6210148" y="4069080"/>
            <a:ext cx="5432908" cy="2011680"/>
          </a:xfrm>
          <a:prstGeom prst="roundRect">
            <a:avLst>
              <a:gd name="adj" fmla="val 363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74740" y="4178808"/>
            <a:ext cx="515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v1 и /api-docs</a:t>
            </a:r>
            <a:endParaRPr lang="ru-RU" sz="1300" dirty="0"/>
          </a:p>
        </p:txBody>
      </p:sp>
      <p:pic>
        <p:nvPicPr>
          <p:cNvPr id="24" name="Image 2" descr="C:\Users\alfas\AppData\Local\Temp\claude\C--Users-alfas-hackaton\4902f530-8ce2-43a7-ba9b-22b197422138\scratchpad\gen\deck\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40" y="4526280"/>
            <a:ext cx="2288286" cy="140817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374740" y="4526280"/>
            <a:ext cx="2288286" cy="1408176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827618" y="4526280"/>
            <a:ext cx="266913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/api/v1/calculate с телом {"facility":"warehouse"} — те же сценарии и числа, что у нового проекта. Описание — /api/v1/openapi.json.</a:t>
            </a:r>
            <a:endParaRPr lang="ru-RU" sz="1050" dirty="0"/>
          </a:p>
        </p:txBody>
      </p:sp>
      <p:sp>
        <p:nvSpPr>
          <p:cNvPr id="27" name="Shape 22"/>
          <p:cNvSpPr/>
          <p:nvPr/>
        </p:nvSpPr>
        <p:spPr>
          <a:xfrm>
            <a:off x="713232" y="4526280"/>
            <a:ext cx="632765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13232" y="4526280"/>
            <a:ext cx="6327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</a:t>
            </a:r>
            <a:endParaRPr lang="ru-RU" sz="950" dirty="0"/>
          </a:p>
        </p:txBody>
      </p:sp>
      <p:sp>
        <p:nvSpPr>
          <p:cNvPr id="29" name="Shape 24"/>
          <p:cNvSpPr/>
          <p:nvPr/>
        </p:nvSpPr>
        <p:spPr>
          <a:xfrm>
            <a:off x="1419149" y="4526280"/>
            <a:ext cx="1356970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419149" y="4526280"/>
            <a:ext cx="1356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объекта</a:t>
            </a:r>
            <a:endParaRPr lang="ru-RU" sz="950" dirty="0"/>
          </a:p>
        </p:txBody>
      </p:sp>
      <p:sp>
        <p:nvSpPr>
          <p:cNvPr id="31" name="Shape 26"/>
          <p:cNvSpPr/>
          <p:nvPr/>
        </p:nvSpPr>
        <p:spPr>
          <a:xfrm>
            <a:off x="2849270" y="4526280"/>
            <a:ext cx="632765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2849270" y="4526280"/>
            <a:ext cx="6327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ru-RU" sz="950" dirty="0"/>
          </a:p>
        </p:txBody>
      </p:sp>
      <p:sp>
        <p:nvSpPr>
          <p:cNvPr id="33" name="Shape 28"/>
          <p:cNvSpPr/>
          <p:nvPr/>
        </p:nvSpPr>
        <p:spPr>
          <a:xfrm>
            <a:off x="3555187" y="4526280"/>
            <a:ext cx="1488643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555187" y="4526280"/>
            <a:ext cx="14886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оборудования</a:t>
            </a:r>
            <a:endParaRPr lang="ru-RU" sz="950" dirty="0"/>
          </a:p>
        </p:txBody>
      </p:sp>
      <p:sp>
        <p:nvSpPr>
          <p:cNvPr id="35" name="Shape 30"/>
          <p:cNvSpPr/>
          <p:nvPr/>
        </p:nvSpPr>
        <p:spPr>
          <a:xfrm>
            <a:off x="5116982" y="452628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5116982" y="45262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ru-RU" sz="950" dirty="0"/>
          </a:p>
        </p:txBody>
      </p:sp>
      <p:sp>
        <p:nvSpPr>
          <p:cNvPr id="37" name="Shape 32"/>
          <p:cNvSpPr/>
          <p:nvPr/>
        </p:nvSpPr>
        <p:spPr>
          <a:xfrm>
            <a:off x="713232" y="4855464"/>
            <a:ext cx="501091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13232" y="4855464"/>
            <a:ext cx="501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ru-RU" sz="950" dirty="0"/>
          </a:p>
        </p:txBody>
      </p:sp>
      <p:sp>
        <p:nvSpPr>
          <p:cNvPr id="39" name="Shape 34"/>
          <p:cNvSpPr/>
          <p:nvPr/>
        </p:nvSpPr>
        <p:spPr>
          <a:xfrm>
            <a:off x="1287475" y="4855464"/>
            <a:ext cx="1159459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1287475" y="4855464"/>
            <a:ext cx="11594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Денежный поток</a:t>
            </a:r>
            <a:endParaRPr lang="ru-RU" sz="950" dirty="0"/>
          </a:p>
        </p:txBody>
      </p:sp>
      <p:sp>
        <p:nvSpPr>
          <p:cNvPr id="41" name="Shape 36"/>
          <p:cNvSpPr/>
          <p:nvPr/>
        </p:nvSpPr>
        <p:spPr>
          <a:xfrm>
            <a:off x="2520086" y="4855464"/>
            <a:ext cx="1291133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2520086" y="4855464"/>
            <a:ext cx="12911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Чувствительность</a:t>
            </a:r>
            <a:endParaRPr lang="ru-RU" sz="950" dirty="0"/>
          </a:p>
        </p:txBody>
      </p:sp>
      <p:sp>
        <p:nvSpPr>
          <p:cNvPr id="43" name="Shape 38"/>
          <p:cNvSpPr/>
          <p:nvPr/>
        </p:nvSpPr>
        <p:spPr>
          <a:xfrm>
            <a:off x="3884371" y="4855464"/>
            <a:ext cx="764438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884371" y="4855464"/>
            <a:ext cx="764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Имитация</a:t>
            </a:r>
            <a:endParaRPr lang="ru-RU" sz="950" dirty="0"/>
          </a:p>
        </p:txBody>
      </p:sp>
      <p:sp>
        <p:nvSpPr>
          <p:cNvPr id="45" name="Shape 40"/>
          <p:cNvSpPr/>
          <p:nvPr/>
        </p:nvSpPr>
        <p:spPr>
          <a:xfrm>
            <a:off x="713232" y="5184648"/>
            <a:ext cx="1620317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13232" y="5184648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Нормативы и допущения</a:t>
            </a:r>
            <a:endParaRPr lang="ru-RU" sz="950" dirty="0"/>
          </a:p>
        </p:txBody>
      </p:sp>
      <p:sp>
        <p:nvSpPr>
          <p:cNvPr id="47" name="Shape 42"/>
          <p:cNvSpPr/>
          <p:nvPr/>
        </p:nvSpPr>
        <p:spPr>
          <a:xfrm>
            <a:off x="2406701" y="5184648"/>
            <a:ext cx="830275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2406701" y="5184648"/>
            <a:ext cx="8302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ru-RU" sz="950" dirty="0"/>
          </a:p>
        </p:txBody>
      </p:sp>
      <p:sp>
        <p:nvSpPr>
          <p:cNvPr id="49" name="Shape 44"/>
          <p:cNvSpPr/>
          <p:nvPr/>
        </p:nvSpPr>
        <p:spPr>
          <a:xfrm>
            <a:off x="3310128" y="5184648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310128" y="5184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корректировок</a:t>
            </a:r>
            <a:endParaRPr lang="ru-RU" sz="950" dirty="0"/>
          </a:p>
        </p:txBody>
      </p:sp>
      <p:sp>
        <p:nvSpPr>
          <p:cNvPr id="51" name="Shape 46"/>
          <p:cNvSpPr/>
          <p:nvPr/>
        </p:nvSpPr>
        <p:spPr>
          <a:xfrm>
            <a:off x="4937760" y="5184648"/>
            <a:ext cx="830275" cy="256032"/>
          </a:xfrm>
          <a:prstGeom prst="roundRect">
            <a:avLst>
              <a:gd name="adj" fmla="val 21429"/>
            </a:avLst>
          </a:prstGeom>
          <a:solidFill>
            <a:srgbClr val="E3F3EA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4937760" y="5184648"/>
            <a:ext cx="8302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расчёте</a:t>
            </a:r>
            <a:endParaRPr lang="ru-RU" sz="950" dirty="0"/>
          </a:p>
        </p:txBody>
      </p:sp>
      <p:sp>
        <p:nvSpPr>
          <p:cNvPr id="53" name="Text 48"/>
          <p:cNvSpPr txBox="1"/>
          <p:nvPr/>
        </p:nvSpPr>
        <p:spPr>
          <a:xfrm>
            <a:off x="713232" y="5568696"/>
            <a:ext cx="5103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Листы книги Excel с живыми формулами — финансист проверяет NPV сам. CSV — с BOM и разделителем «;», открывается в русском Excel.</a:t>
            </a:r>
            <a:endParaRPr lang="ru-RU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548640" y="614476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подвале отчёта — версии модели tz-1.0.0 и имитации sim-1.0.0.</a:t>
            </a:r>
            <a:endParaRPr lang="ru-RU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456432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 требования · ТЗ §4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изоляция и скорость проверяются на сервере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Пароли хранятся хешами, чужой проект не найти. Расчёт укладывается в лимиты ТЗ, а его статус виден на экране. Путь жюри проверяется e2e-тестами в окне 1366×768.</a:t>
            </a:r>
            <a:endParaRPr lang="ru-RU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ru-RU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410048" cy="2852928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C:\Users\alfas\AppData\Local\Temp\claude\C--Users-alfas-hackaton\4902f530-8ce2-43a7-ba9b-22b197422138\scratchpad\gen\deck\ic-shield-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1323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210312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данные</a:t>
            </a:r>
            <a:endParaRPr lang="ru-RU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70048"/>
            <a:ext cx="4998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по ТЗ §3.1.1.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— каталог и демо-расчёт без сохранения; пользователь — свои проекты; администратор — каталог, нормативы и параметры.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Изоляция.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запрос фильтрует данные по владельцу: чужой проект отвечает «не найдено».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Пароли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только хеши; на вход действуют лимиты попыток.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проекта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удаляет его сценарии и журнал. Загруженные файлы не хранятся: файл разбирается и отбрасывается.</a:t>
            </a:r>
            <a:endParaRPr lang="ru-RU" sz="1250" dirty="0"/>
          </a:p>
        </p:txBody>
      </p:sp>
      <p:sp>
        <p:nvSpPr>
          <p:cNvPr id="13" name="Shape 10"/>
          <p:cNvSpPr/>
          <p:nvPr/>
        </p:nvSpPr>
        <p:spPr>
          <a:xfrm>
            <a:off x="6233008" y="1874520"/>
            <a:ext cx="5410048" cy="2852928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15888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C:\Users\alfas\AppData\Local\Temp\claude\C--Users-alfas-hackaton\4902f530-8ce2-43a7-ba9b-22b197422138\scratchpad\gen\deck\ic-gaug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88" y="213238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55968" y="210312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и удобство</a:t>
            </a:r>
            <a:endParaRPr lang="ru-RU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61608" y="2670048"/>
            <a:ext cx="4998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ТЗ: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экономики — до 10 с (§4.3.2), запуск модели — до 60 с с видимым статусом (§4.3.3).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состояния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показывает время расчёта и статус имитации; замеры финальной сборки — в чек-листе релиза.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поле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 единицей, примером, диапазоном и источником значения.</a:t>
            </a:r>
            <a:endParaRPr lang="ru-RU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ru-RU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говорят, как их исправить; экран — от 1366×768 (§4.5.5).</a:t>
            </a:r>
            <a:endParaRPr lang="ru-RU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956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состояния рабочей области (снимок сборки)</a:t>
            </a:r>
            <a:endParaRPr lang="ru-RU" sz="1000" dirty="0"/>
          </a:p>
        </p:txBody>
      </p:sp>
      <p:pic>
        <p:nvPicPr>
          <p:cNvPr id="19" name="Image 2" descr="C:\Users\alfas\AppData\Local\Temp\claude\C--Users-alfas-hackaton\4902f530-8ce2-43a7-ba9b-22b197422138\scratchpad\gen\deck\status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30368"/>
            <a:ext cx="11094415" cy="74311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48640" y="5230368"/>
            <a:ext cx="11094415" cy="743111"/>
          </a:xfrm>
          <a:prstGeom prst="rect">
            <a:avLst/>
          </a:prstGeom>
          <a:ln w="9525">
            <a:solidFill>
              <a:srgbClr val="D5DBE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ТЗ §5.7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Полностью, частично, прототип — без приукрашивания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сделан путь склада, который вы видели. Подробности и причины — в docs/LIMITATIONS.md.</a:t>
            </a:r>
            <a:endParaRPr lang="ru-RU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ru-RU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2663876" cy="4480560"/>
          </a:xfrm>
          <a:prstGeom prst="roundRect">
            <a:avLst>
              <a:gd name="adj" fmla="val 274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920240"/>
            <a:ext cx="2407844" cy="384048"/>
          </a:xfrm>
          <a:prstGeom prst="roundRect">
            <a:avLst>
              <a:gd name="adj" fmla="val 19048"/>
            </a:avLst>
          </a:prstGeom>
          <a:solidFill>
            <a:srgbClr val="E3F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" y="192024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007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</a:t>
            </a:r>
            <a:endParaRPr lang="ru-RU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468880"/>
            <a:ext cx="23895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Склад: весь путь из 8 шагов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и имитация процесса «Перемещение паллет»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Проекты: создание, копирование, удаление, сценарии, журнал, версии, повторное открытие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 провенансом, подбор с причинами, сравнение, чувствительность, вывод с рисками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Отчёт, Excel, CSV, PNG; API v1 с OpenAPI; роли и администрирование; compose и health</a:t>
            </a:r>
            <a:endParaRPr lang="ru-RU" sz="1150" dirty="0"/>
          </a:p>
        </p:txBody>
      </p:sp>
      <p:sp>
        <p:nvSpPr>
          <p:cNvPr id="12" name="Shape 10"/>
          <p:cNvSpPr/>
          <p:nvPr/>
        </p:nvSpPr>
        <p:spPr>
          <a:xfrm>
            <a:off x="3358820" y="1810512"/>
            <a:ext cx="2663876" cy="4480560"/>
          </a:xfrm>
          <a:prstGeom prst="roundRect">
            <a:avLst>
              <a:gd name="adj" fmla="val 274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836" y="1920240"/>
            <a:ext cx="2407844" cy="384048"/>
          </a:xfrm>
          <a:prstGeom prst="roundRect">
            <a:avLst>
              <a:gd name="adj" fmla="val 19048"/>
            </a:avLst>
          </a:prstGeom>
          <a:solidFill>
            <a:srgbClr val="FBF0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86836" y="192024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ru-RU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05124" y="2468880"/>
            <a:ext cx="23895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— печатью браузера, без серверного PDF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каталога — по кнопке; плановое — в плане развития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 WMS, ERP, 1С, мониторинга — API готов, интеграции описаны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— даёт хостинг или обратный прокси; compose TLS не настраивает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параметры и типы объектов — через данные и сев; в админке правятся значения и границы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 50 пользователей (ТЗ §4.3.1) — нагрузочного теста не было</a:t>
            </a:r>
            <a:endParaRPr lang="ru-RU" sz="1150" dirty="0"/>
          </a:p>
        </p:txBody>
      </p:sp>
      <p:sp>
        <p:nvSpPr>
          <p:cNvPr id="16" name="Shape 14"/>
          <p:cNvSpPr/>
          <p:nvPr/>
        </p:nvSpPr>
        <p:spPr>
          <a:xfrm>
            <a:off x="6169000" y="1810512"/>
            <a:ext cx="2663876" cy="4480560"/>
          </a:xfrm>
          <a:prstGeom prst="roundRect">
            <a:avLst>
              <a:gd name="adj" fmla="val 274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7016" y="1920240"/>
            <a:ext cx="2407844" cy="384048"/>
          </a:xfrm>
          <a:prstGeom prst="roundRect">
            <a:avLst>
              <a:gd name="adj" fmla="val 19048"/>
            </a:avLst>
          </a:prstGeom>
          <a:solidFill>
            <a:srgbClr val="EEE9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7016" y="192024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5B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</a:t>
            </a:r>
            <a:endParaRPr lang="ru-RU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15304" y="2468880"/>
            <a:ext cx="23895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Аэропорт и медучреждение: параметры, подбор, доступные решения, схема; экономики и имитации нет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других процессов склада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— перебор парка имитацией, без ML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аэропорта и медучреждения — статичная, без имитации</a:t>
            </a:r>
            <a:endParaRPr lang="ru-RU" sz="1150" dirty="0"/>
          </a:p>
        </p:txBody>
      </p:sp>
      <p:sp>
        <p:nvSpPr>
          <p:cNvPr id="20" name="Shape 18"/>
          <p:cNvSpPr/>
          <p:nvPr/>
        </p:nvSpPr>
        <p:spPr>
          <a:xfrm>
            <a:off x="8979179" y="1810512"/>
            <a:ext cx="2663876" cy="4480560"/>
          </a:xfrm>
          <a:prstGeom prst="roundRect">
            <a:avLst>
              <a:gd name="adj" fmla="val 2746"/>
            </a:avLst>
          </a:prstGeom>
          <a:ln w="9525">
            <a:solidFill>
              <a:srgbClr val="D5DB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07195" y="1920240"/>
            <a:ext cx="2407844" cy="384048"/>
          </a:xfrm>
          <a:prstGeom prst="roundRect">
            <a:avLst>
              <a:gd name="adj" fmla="val 19048"/>
            </a:avLst>
          </a:prstGeom>
          <a:solidFill>
            <a:srgbClr val="FBE7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07195" y="1920240"/>
            <a:ext cx="240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BB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реализовано</a:t>
            </a:r>
            <a:endParaRPr lang="ru-RU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25483" y="2468880"/>
            <a:ext cx="23895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поставщика, госреестры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Разъезды роботов и заторы в проходах — не моделируются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Налоги, амортизация, инфляция, остаточная стоимость — не моделируются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парсинг сайтов производителей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— по ТЗ не требуется</a:t>
            </a:r>
            <a:endParaRPr lang="ru-RU" sz="11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ru-RU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Прежняя модель v1 — в демонстрации не участвует</a:t>
            </a:r>
            <a:endParaRPr lang="ru-RU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81098" cy="310896"/>
          </a:xfrm>
          <a:prstGeom prst="roundRect">
            <a:avLst>
              <a:gd name="adj" fmla="val 50000"/>
            </a:avLst>
          </a:prstGeom>
          <a:solidFill>
            <a:srgbClr val="E8EE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2152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ТЗ §9 · бонусы</a:t>
            </a:r>
            <a:endParaRPr lang="ru-RU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Бонусы ТЗ — функциями, которые видны в показе</a:t>
            </a:r>
            <a:endParaRPr lang="ru-RU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оценки роботизации · кейс «Склад»</a:t>
            </a:r>
            <a:endParaRPr lang="ru-RU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ru-RU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9" name="Image 0" descr="C:\Users\alfas\AppData\Local\Temp\claude\C--Users-alfas-hackaton\4902f530-8ce2-43a7-ba9b-22b197422138\scratchpad\gen\deck\ic-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2331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709928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при обоснованной задаче</a:t>
            </a:r>
            <a:endParaRPr lang="ru-RU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77440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устойчивый парк: перебор имитацией в диапазоне [1; 2N]. Для H1500 — 9 против 11 по расчёту. «Принять парк по имитации» пишет правку в журнал</a:t>
            </a:r>
            <a:endParaRPr lang="ru-RU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91840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7</a:t>
            </a:r>
            <a:endParaRPr lang="ru-RU" sz="1050" dirty="0"/>
          </a:p>
        </p:txBody>
      </p:sp>
      <p:sp>
        <p:nvSpPr>
          <p:cNvPr id="13" name="Shape 10"/>
          <p:cNvSpPr/>
          <p:nvPr/>
        </p:nvSpPr>
        <p:spPr>
          <a:xfrm>
            <a:off x="4313834" y="1508760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6714" y="1691640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15" name="Image 1" descr="C:\Users\alfas\AppData\Local\Temp\claude\C--Users-alfas-hackaton\4902f530-8ce2-43a7-ba9b-22b197422138\scratchpad\gen\deck\ic-plu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8" y="182331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82514" y="1709928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Интеграционные API</a:t>
            </a:r>
            <a:endParaRPr lang="ru-RU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496714" y="2377440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v1 для каталога, нормативов, параметров, расчёта и проектов; описание OpenAPI</a:t>
            </a:r>
            <a:endParaRPr lang="ru-RU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496714" y="3291840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/api-docs</a:t>
            </a:r>
            <a:endParaRPr lang="ru-RU" sz="1050" dirty="0"/>
          </a:p>
        </p:txBody>
      </p:sp>
      <p:sp>
        <p:nvSpPr>
          <p:cNvPr id="19" name="Shape 15"/>
          <p:cNvSpPr/>
          <p:nvPr/>
        </p:nvSpPr>
        <p:spPr>
          <a:xfrm>
            <a:off x="8079029" y="1508760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20" name="Shape 16"/>
          <p:cNvSpPr/>
          <p:nvPr/>
        </p:nvSpPr>
        <p:spPr>
          <a:xfrm>
            <a:off x="8261909" y="1691640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21" name="Image 2" descr="C:\Users\alfas\AppData\Local\Temp\claude\C--Users-alfas-hackaton\4902f530-8ce2-43a7-ba9b-22b197422138\scratchpad\gen\deck\ic-refres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582" y="182331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947709" y="1709928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каталога</a:t>
            </a:r>
            <a:endParaRPr lang="ru-RU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8261909" y="2377440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«Обновить каталог» с отчётом синхронизации; правки администратора сохраняются, пропавшее уходит в архив</a:t>
            </a:r>
            <a:endParaRPr lang="ru-RU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261909" y="3291840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/admin/data</a:t>
            </a:r>
            <a:endParaRPr lang="ru-RU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858768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26" name="Shape 21"/>
          <p:cNvSpPr/>
          <p:nvPr/>
        </p:nvSpPr>
        <p:spPr>
          <a:xfrm>
            <a:off x="731520" y="4041648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27" name="Image 3" descr="C:\Users\alfas\AppData\Local\Temp\claude\C--Users-alfas-hackaton\4902f530-8ce2-43a7-ba9b-22b197422138\scratchpad\gen\deck\ic-slide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4173322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17320" y="4059936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Расширенная чувствительность</a:t>
            </a:r>
            <a:endParaRPr lang="ru-RU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4727448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рычаги каждого сценария роботизации, смена знака NPV как риск, горизонт смены вывода, порог по зарплате</a:t>
            </a:r>
            <a:endParaRPr lang="ru-RU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56418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6</a:t>
            </a:r>
            <a:endParaRPr lang="ru-RU" sz="1050" dirty="0"/>
          </a:p>
        </p:txBody>
      </p:sp>
      <p:sp>
        <p:nvSpPr>
          <p:cNvPr id="31" name="Shape 25"/>
          <p:cNvSpPr/>
          <p:nvPr/>
        </p:nvSpPr>
        <p:spPr>
          <a:xfrm>
            <a:off x="4313834" y="3858768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32" name="Shape 26"/>
          <p:cNvSpPr/>
          <p:nvPr/>
        </p:nvSpPr>
        <p:spPr>
          <a:xfrm>
            <a:off x="4496714" y="4041648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33" name="Image 4" descr="C:\Users\alfas\AppData\Local\Temp\claude\C--Users-alfas-hackaton\4902f530-8ce2-43a7-ba9b-22b197422138\scratchpad\gen\deck\ic-badg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388" y="4173322"/>
            <a:ext cx="285293" cy="28529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82514" y="4059936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Провенанс данных</a:t>
            </a:r>
            <a:endParaRPr lang="ru-RU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4496714" y="4727448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Источник, дата, подтверждение, уверенность и альтернативы — у каждой характеристики и каждого норматива</a:t>
            </a:r>
            <a:endParaRPr lang="ru-RU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4496714" y="56418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/catalog/…, шаг 5</a:t>
            </a:r>
            <a:endParaRPr lang="ru-RU" sz="1050" dirty="0"/>
          </a:p>
        </p:txBody>
      </p:sp>
      <p:sp>
        <p:nvSpPr>
          <p:cNvPr id="37" name="Shape 30"/>
          <p:cNvSpPr/>
          <p:nvPr/>
        </p:nvSpPr>
        <p:spPr>
          <a:xfrm>
            <a:off x="8079029" y="3858768"/>
            <a:ext cx="3564026" cy="2148840"/>
          </a:xfrm>
          <a:prstGeom prst="roundRect">
            <a:avLst>
              <a:gd name="adj" fmla="val 3404"/>
            </a:avLst>
          </a:prstGeom>
          <a:solidFill>
            <a:srgbClr val="F4F6FA"/>
          </a:solidFill>
          <a:ln/>
        </p:spPr>
      </p:sp>
      <p:sp>
        <p:nvSpPr>
          <p:cNvPr id="38" name="Shape 31"/>
          <p:cNvSpPr/>
          <p:nvPr/>
        </p:nvSpPr>
        <p:spPr>
          <a:xfrm>
            <a:off x="8261909" y="4041648"/>
            <a:ext cx="548640" cy="548640"/>
          </a:xfrm>
          <a:prstGeom prst="ellipse">
            <a:avLst/>
          </a:prstGeom>
          <a:solidFill>
            <a:srgbClr val="1A42A8"/>
          </a:solidFill>
          <a:ln/>
        </p:spPr>
      </p:sp>
      <p:pic>
        <p:nvPicPr>
          <p:cNvPr id="39" name="Image 5" descr="C:\Users\alfas\AppData\Local\Temp\claude\C--Users-alfas-hackaton\4902f530-8ce2-43a7-ba9b-22b197422138\scratchpad\gen\deck\ic-layer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582" y="4173322"/>
            <a:ext cx="285293" cy="285293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947709" y="4059936"/>
            <a:ext cx="25581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типов объектов</a:t>
            </a:r>
            <a:endParaRPr lang="ru-RU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8261909" y="4727448"/>
            <a:ext cx="323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— детальная модель; аэропорт и медучреждение — параметры и подбор, прототип</a:t>
            </a:r>
            <a:endParaRPr lang="ru-RU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8261909" y="5641848"/>
            <a:ext cx="3234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050" b="1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увидеть: </a:t>
            </a:r>
            <a:pPr algn="l" indent="0" marL="0">
              <a:buNone/>
            </a:pPr>
            <a:r>
              <a:rPr lang="ru-RU" sz="1050" dirty="0">
                <a:solidFill>
                  <a:srgbClr val="1A4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/demo?facility=…</a:t>
            </a:r>
            <a:endParaRPr lang="ru-RU" sz="1050" dirty="0"/>
          </a:p>
        </p:txBody>
      </p:sp>
      <p:sp>
        <p:nvSpPr>
          <p:cNvPr id="43" name="Text 35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оговорка: детальная модель есть только у склада.</a:t>
            </a:r>
            <a:endParaRPr lang="ru-RU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spc="200" kern="0" dirty="0">
                <a:solidFill>
                  <a:srgbClr val="F5B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РАЗВИТИЯ</a:t>
            </a:r>
            <a:endParaRPr lang="ru-RU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проверка допущений на реальном складе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не новые экраны: модель уже говорит, что проверять в первую очередь.</a:t>
            </a:r>
            <a:endParaRPr lang="ru-RU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A4C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402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F5B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Ближайший шаг</a:t>
            </a:r>
            <a:endParaRPr lang="ru-RU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603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Пилотное обследование склада</a:t>
            </a:r>
            <a:endParaRPr lang="ru-RU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31129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Замерить долю автоматизируемого труда — сильнейший рычаг рекомендуемой покупки AMR 1500: NPV -28,1 млн ₽ до 36,1 млн ₽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по коммерческому предложению цену и производительность AMR 1500. Цена в расчёте — 2 200 000 ₽, производителем не подтверждена</a:t>
            </a:r>
            <a:endParaRPr lang="ru-RU" sz="1150" dirty="0"/>
          </a:p>
        </p:txBody>
      </p:sp>
      <p:sp>
        <p:nvSpPr>
          <p:cNvPr id="9" name="Shape 7"/>
          <p:cNvSpPr/>
          <p:nvPr/>
        </p:nvSpPr>
        <p:spPr>
          <a:xfrm>
            <a:off x="4383938" y="210312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A4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5106" y="22402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F5B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</a:t>
            </a:r>
            <a:endParaRPr lang="ru-RU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5106" y="25603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ближе к реальности</a:t>
            </a:r>
            <a:endParaRPr lang="ru-RU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971800"/>
            <a:ext cx="31129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Остаточная стоимость в TCO: сейчас докупка в конце срока службы входит без неё — в дополнительном примере это 29,7 млн ₽ в год 7, с горизонта 8 лет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и имитация аэропорта, медучреждения и других процессов склада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заторов в проходах</a:t>
            </a:r>
            <a:endParaRPr lang="ru-RU" sz="1150" dirty="0"/>
          </a:p>
        </p:txBody>
      </p:sp>
      <p:sp>
        <p:nvSpPr>
          <p:cNvPr id="13" name="Shape 11"/>
          <p:cNvSpPr/>
          <p:nvPr/>
        </p:nvSpPr>
        <p:spPr>
          <a:xfrm>
            <a:off x="8036357" y="210312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A4C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37525" y="22402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F5B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ru-RU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37525" y="25603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для ФЦ БАС</a:t>
            </a:r>
            <a:endParaRPr lang="ru-RU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971800"/>
            <a:ext cx="31129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Плановое автообновление каталога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поставщика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Серверный PDF</a:t>
            </a:r>
            <a:endParaRPr lang="ru-RU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интеграции с WMS, ERP, 1С и мониторингом через готовый API</a:t>
            </a:r>
            <a:endParaRPr lang="ru-RU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5577840"/>
            <a:ext cx="10728655" cy="566928"/>
          </a:xfrm>
          <a:prstGeom prst="roundRect">
            <a:avLst>
              <a:gd name="adj" fmla="val 16129"/>
            </a:avLst>
          </a:prstGeom>
          <a:solidFill>
            <a:srgbClr val="F5B03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57784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0F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Просьба к ФЦ БАС — данные одного пилотного склада, чтобы откалибровать эти допущения.</a:t>
            </a:r>
            <a:endParaRPr lang="ru-RU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ru-RU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оценки роботизации — кейс «Склад»</dc:title>
  <dc:subject>Хакатон ФЦ БАС, презентация решения (ТЗ §8.2.3)</dc:subject>
  <dc:creator>Команда платформы оценки роботизации</dc:creator>
  <cp:lastModifiedBy>Команда платформы оценки роботизации</cp:lastModifiedBy>
  <cp:revision>1</cp:revision>
  <dcterms:created xsi:type="dcterms:W3CDTF">2026-09-27T12:45:42Z</dcterms:created>
  <dcterms:modified xsi:type="dcterms:W3CDTF">2026-09-27T12:45:42Z</dcterms:modified>
</cp:coreProperties>
</file>